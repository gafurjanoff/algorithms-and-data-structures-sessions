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75D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229"/>
    <p:restoredTop sz="94610"/>
  </p:normalViewPr>
  <p:slideViewPr>
    <p:cSldViewPr snapToGrid="0" snapToObjects="1">
      <p:cViewPr>
        <p:scale>
          <a:sx n="73" d="100"/>
          <a:sy n="73" d="100"/>
        </p:scale>
        <p:origin x="248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4277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8.png"/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6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5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6.png"/><Relationship Id="rId9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6.png"/><Relationship Id="rId9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10.png"/><Relationship Id="rId5" Type="http://schemas.openxmlformats.org/officeDocument/2006/relationships/image" Target="../media/image35.png"/><Relationship Id="rId10" Type="http://schemas.openxmlformats.org/officeDocument/2006/relationships/image" Target="../media/image39.png"/><Relationship Id="rId4" Type="http://schemas.openxmlformats.org/officeDocument/2006/relationships/image" Target="../media/image6.png"/><Relationship Id="rId9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45.png"/><Relationship Id="rId5" Type="http://schemas.openxmlformats.org/officeDocument/2006/relationships/image" Target="../media/image40.png"/><Relationship Id="rId10" Type="http://schemas.openxmlformats.org/officeDocument/2006/relationships/image" Target="../media/image44.png"/><Relationship Id="rId4" Type="http://schemas.openxmlformats.org/officeDocument/2006/relationships/image" Target="../media/image6.png"/><Relationship Id="rId9" Type="http://schemas.openxmlformats.org/officeDocument/2006/relationships/image" Target="../media/image4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3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8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jpeg"/><Relationship Id="rId3" Type="http://schemas.openxmlformats.org/officeDocument/2006/relationships/image" Target="../media/image58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10" Type="http://schemas.openxmlformats.org/officeDocument/2006/relationships/image" Target="../media/image62.jpeg"/><Relationship Id="rId4" Type="http://schemas.openxmlformats.org/officeDocument/2006/relationships/image" Target="../media/image38.png"/><Relationship Id="rId9" Type="http://schemas.openxmlformats.org/officeDocument/2006/relationships/image" Target="../media/image61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jpeg"/><Relationship Id="rId3" Type="http://schemas.openxmlformats.org/officeDocument/2006/relationships/image" Target="../media/image63.png"/><Relationship Id="rId7" Type="http://schemas.openxmlformats.org/officeDocument/2006/relationships/image" Target="../media/image6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jpeg"/><Relationship Id="rId5" Type="http://schemas.openxmlformats.org/officeDocument/2006/relationships/image" Target="../media/image64.jpeg"/><Relationship Id="rId4" Type="http://schemas.openxmlformats.org/officeDocument/2006/relationships/image" Target="../media/image10.png"/><Relationship Id="rId9" Type="http://schemas.openxmlformats.org/officeDocument/2006/relationships/image" Target="../media/image6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jpeg"/><Relationship Id="rId3" Type="http://schemas.openxmlformats.org/officeDocument/2006/relationships/image" Target="../media/image6.png"/><Relationship Id="rId7" Type="http://schemas.openxmlformats.org/officeDocument/2006/relationships/image" Target="../media/image7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jpeg"/><Relationship Id="rId5" Type="http://schemas.openxmlformats.org/officeDocument/2006/relationships/image" Target="../media/image10.png"/><Relationship Id="rId4" Type="http://schemas.openxmlformats.org/officeDocument/2006/relationships/image" Target="../media/image7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5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0" Type="http://schemas.openxmlformats.org/officeDocument/2006/relationships/image" Target="../media/image80.png"/><Relationship Id="rId4" Type="http://schemas.openxmlformats.org/officeDocument/2006/relationships/image" Target="../media/image6.png"/><Relationship Id="rId9" Type="http://schemas.openxmlformats.org/officeDocument/2006/relationships/image" Target="../media/image7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83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5.png"/><Relationship Id="rId7" Type="http://schemas.openxmlformats.org/officeDocument/2006/relationships/image" Target="../media/image8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84.png"/><Relationship Id="rId10" Type="http://schemas.openxmlformats.org/officeDocument/2006/relationships/image" Target="../media/image89.png"/><Relationship Id="rId4" Type="http://schemas.openxmlformats.org/officeDocument/2006/relationships/image" Target="../media/image6.png"/><Relationship Id="rId9" Type="http://schemas.openxmlformats.org/officeDocument/2006/relationships/image" Target="../media/image8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1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" y="0"/>
            <a:ext cx="9601200" cy="14478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619125" y="316706"/>
            <a:ext cx="7169394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Python And ADS</a:t>
            </a:r>
            <a:endParaRPr lang="en-US" sz="4200" dirty="0"/>
          </a:p>
        </p:txBody>
      </p:sp>
      <p:sp>
        <p:nvSpPr>
          <p:cNvPr id="8" name="Text 1"/>
          <p:cNvSpPr/>
          <p:nvPr/>
        </p:nvSpPr>
        <p:spPr>
          <a:xfrm>
            <a:off x="571500" y="1905409"/>
            <a:ext cx="6191250" cy="1083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Python Is One of the Most Popular Programming Languages?</a:t>
            </a:r>
            <a:endParaRPr lang="en-US" sz="2100" dirty="0">
              <a:solidFill>
                <a:srgbClr val="7030A0"/>
              </a:solidFill>
            </a:endParaRPr>
          </a:p>
        </p:txBody>
      </p:sp>
      <p:pic>
        <p:nvPicPr>
          <p:cNvPr id="11" name="Image 4" descr="preencoded.png">
            <a:extLst>
              <a:ext uri="{FF2B5EF4-FFF2-40B4-BE49-F238E27FC236}">
                <a16:creationId xmlns:a16="http://schemas.microsoft.com/office/drawing/2014/main" id="{EC611E75-B617-2997-F529-ED9B5F048E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525" y="3156276"/>
            <a:ext cx="5029200" cy="1828800"/>
          </a:xfrm>
          <a:prstGeom prst="rect">
            <a:avLst/>
          </a:prstGeom>
        </p:spPr>
      </p:pic>
      <p:pic>
        <p:nvPicPr>
          <p:cNvPr id="12" name="Image 6" descr="preencoded.png">
            <a:extLst>
              <a:ext uri="{FF2B5EF4-FFF2-40B4-BE49-F238E27FC236}">
                <a16:creationId xmlns:a16="http://schemas.microsoft.com/office/drawing/2014/main" id="{7EAA0DDD-55B1-3F6E-E1AE-9D8D9F9221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47" y="3564541"/>
            <a:ext cx="865203" cy="90957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3B4D820-1DB8-3302-B31A-5A0EBD459AB9}"/>
              </a:ext>
            </a:extLst>
          </p:cNvPr>
          <p:cNvSpPr txBox="1"/>
          <p:nvPr/>
        </p:nvSpPr>
        <p:spPr>
          <a:xfrm>
            <a:off x="1823450" y="3886010"/>
            <a:ext cx="28680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Samandar Gofurjonov</a:t>
            </a:r>
            <a:endParaRPr lang="en-US" sz="1800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A1F603EF-8641-4F96-F6DC-30C8DFE50D7B}"/>
              </a:ext>
            </a:extLst>
          </p:cNvPr>
          <p:cNvSpPr/>
          <p:nvPr/>
        </p:nvSpPr>
        <p:spPr>
          <a:xfrm>
            <a:off x="1917878" y="3618477"/>
            <a:ext cx="22783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Course Instructor</a:t>
            </a:r>
            <a:endParaRPr lang="en-US" sz="1100" b="1" dirty="0"/>
          </a:p>
        </p:txBody>
      </p:sp>
      <p:pic>
        <p:nvPicPr>
          <p:cNvPr id="4100" name="Picture 4" descr="Free Reticulated Python Vector Art - Download 20+ Reticulated Python ...">
            <a:extLst>
              <a:ext uri="{FF2B5EF4-FFF2-40B4-BE49-F238E27FC236}">
                <a16:creationId xmlns:a16="http://schemas.microsoft.com/office/drawing/2014/main" id="{095984EC-F543-7A3D-0D46-EBC876EB49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0275" y="1347787"/>
            <a:ext cx="6019800" cy="5369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38175"/>
            <a:ext cx="2714625" cy="11525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00225" y="2362200"/>
            <a:ext cx="476250" cy="4762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00225" y="3200400"/>
            <a:ext cx="476250" cy="4762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00225" y="4038600"/>
            <a:ext cx="476250" cy="4762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00225" y="4876800"/>
            <a:ext cx="476250" cy="4762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7475" y="2362200"/>
            <a:ext cx="476250" cy="4762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7475" y="3200400"/>
            <a:ext cx="476250" cy="4762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7475" y="4038600"/>
            <a:ext cx="476250" cy="4762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7475" y="4876800"/>
            <a:ext cx="476250" cy="4762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75" y="6134100"/>
            <a:ext cx="10687050" cy="447675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838200" y="952500"/>
            <a:ext cx="144125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</a:t>
            </a:r>
            <a:endParaRPr lang="en-US" sz="2500" dirty="0"/>
          </a:p>
        </p:txBody>
      </p:sp>
      <p:sp>
        <p:nvSpPr>
          <p:cNvPr id="16" name="Text 1"/>
          <p:cNvSpPr/>
          <p:nvPr/>
        </p:nvSpPr>
        <p:spPr>
          <a:xfrm>
            <a:off x="1947863" y="2466975"/>
            <a:ext cx="18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Text 2"/>
          <p:cNvSpPr/>
          <p:nvPr/>
        </p:nvSpPr>
        <p:spPr>
          <a:xfrm>
            <a:off x="2419350" y="2447925"/>
            <a:ext cx="18097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at a Glance</a:t>
            </a:r>
            <a:endParaRPr lang="en-US" sz="1400" dirty="0"/>
          </a:p>
        </p:txBody>
      </p:sp>
      <p:sp>
        <p:nvSpPr>
          <p:cNvPr id="18" name="Text 3"/>
          <p:cNvSpPr/>
          <p:nvPr/>
        </p:nvSpPr>
        <p:spPr>
          <a:xfrm>
            <a:off x="1928813" y="3305175"/>
            <a:ext cx="219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 4"/>
          <p:cNvSpPr/>
          <p:nvPr/>
        </p:nvSpPr>
        <p:spPr>
          <a:xfrm>
            <a:off x="2419350" y="3286125"/>
            <a:ext cx="18097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Philosophy</a:t>
            </a:r>
            <a:endParaRPr lang="en-US" sz="1400" dirty="0"/>
          </a:p>
        </p:txBody>
      </p:sp>
      <p:sp>
        <p:nvSpPr>
          <p:cNvPr id="20" name="Text 5"/>
          <p:cNvSpPr/>
          <p:nvPr/>
        </p:nvSpPr>
        <p:spPr>
          <a:xfrm>
            <a:off x="1928813" y="4143375"/>
            <a:ext cx="219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6"/>
          <p:cNvSpPr/>
          <p:nvPr/>
        </p:nvSpPr>
        <p:spPr>
          <a:xfrm>
            <a:off x="2419350" y="4124325"/>
            <a:ext cx="22002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Python Is Popular</a:t>
            </a:r>
            <a:endParaRPr lang="en-US" sz="1400" dirty="0"/>
          </a:p>
        </p:txBody>
      </p:sp>
      <p:sp>
        <p:nvSpPr>
          <p:cNvPr id="22" name="Text 7"/>
          <p:cNvSpPr/>
          <p:nvPr/>
        </p:nvSpPr>
        <p:spPr>
          <a:xfrm>
            <a:off x="1924050" y="4981575"/>
            <a:ext cx="228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8"/>
          <p:cNvSpPr/>
          <p:nvPr/>
        </p:nvSpPr>
        <p:spPr>
          <a:xfrm>
            <a:off x="2419350" y="4962525"/>
            <a:ext cx="29241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Scripting to Applications</a:t>
            </a:r>
            <a:endParaRPr lang="en-US" sz="1400" dirty="0"/>
          </a:p>
        </p:txBody>
      </p:sp>
      <p:sp>
        <p:nvSpPr>
          <p:cNvPr id="24" name="Text 9"/>
          <p:cNvSpPr/>
          <p:nvPr/>
        </p:nvSpPr>
        <p:spPr>
          <a:xfrm>
            <a:off x="6596063" y="2466975"/>
            <a:ext cx="219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5" name="Text 10"/>
          <p:cNvSpPr/>
          <p:nvPr/>
        </p:nvSpPr>
        <p:spPr>
          <a:xfrm>
            <a:off x="7086600" y="2447925"/>
            <a:ext cx="25146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&amp; Ecosystem</a:t>
            </a:r>
            <a:endParaRPr lang="en-US" sz="1400" dirty="0"/>
          </a:p>
        </p:txBody>
      </p:sp>
      <p:sp>
        <p:nvSpPr>
          <p:cNvPr id="26" name="Text 11"/>
          <p:cNvSpPr/>
          <p:nvPr/>
        </p:nvSpPr>
        <p:spPr>
          <a:xfrm>
            <a:off x="6596063" y="3305175"/>
            <a:ext cx="219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7" name="Text 12"/>
          <p:cNvSpPr/>
          <p:nvPr/>
        </p:nvSpPr>
        <p:spPr>
          <a:xfrm>
            <a:off x="7086600" y="3286125"/>
            <a:ext cx="21431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Python Is Used</a:t>
            </a:r>
            <a:endParaRPr lang="en-US" sz="1400" dirty="0"/>
          </a:p>
        </p:txBody>
      </p:sp>
      <p:sp>
        <p:nvSpPr>
          <p:cNvPr id="28" name="Text 13"/>
          <p:cNvSpPr/>
          <p:nvPr/>
        </p:nvSpPr>
        <p:spPr>
          <a:xfrm>
            <a:off x="6596063" y="4143375"/>
            <a:ext cx="219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29" name="Text 14"/>
          <p:cNvSpPr/>
          <p:nvPr/>
        </p:nvSpPr>
        <p:spPr>
          <a:xfrm>
            <a:off x="7086600" y="4124325"/>
            <a:ext cx="22860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 &amp; Learnability</a:t>
            </a:r>
            <a:endParaRPr lang="en-US" sz="1400" dirty="0"/>
          </a:p>
        </p:txBody>
      </p:sp>
      <p:sp>
        <p:nvSpPr>
          <p:cNvPr id="30" name="Text 15"/>
          <p:cNvSpPr/>
          <p:nvPr/>
        </p:nvSpPr>
        <p:spPr>
          <a:xfrm>
            <a:off x="6591300" y="4981575"/>
            <a:ext cx="228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31" name="Text 16"/>
          <p:cNvSpPr/>
          <p:nvPr/>
        </p:nvSpPr>
        <p:spPr>
          <a:xfrm>
            <a:off x="7086600" y="4962525"/>
            <a:ext cx="24479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Programming Paradigms</a:t>
            </a:r>
            <a:endParaRPr lang="en-US" sz="1400" dirty="0"/>
          </a:p>
        </p:txBody>
      </p:sp>
      <p:sp>
        <p:nvSpPr>
          <p:cNvPr id="32" name="Text 17"/>
          <p:cNvSpPr/>
          <p:nvPr/>
        </p:nvSpPr>
        <p:spPr>
          <a:xfrm>
            <a:off x="762000" y="6381750"/>
            <a:ext cx="1990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Programming Course</a:t>
            </a:r>
            <a:endParaRPr lang="en-US" sz="900" dirty="0"/>
          </a:p>
        </p:txBody>
      </p:sp>
      <p:sp>
        <p:nvSpPr>
          <p:cNvPr id="33" name="Text 18"/>
          <p:cNvSpPr/>
          <p:nvPr/>
        </p:nvSpPr>
        <p:spPr>
          <a:xfrm>
            <a:off x="11268075" y="6381750"/>
            <a:ext cx="161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8175"/>
            <a:ext cx="4381500" cy="11525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2038350"/>
            <a:ext cx="133350" cy="1428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2657475"/>
            <a:ext cx="133350" cy="1428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3267075"/>
            <a:ext cx="133350" cy="1428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5375" y="3733800"/>
            <a:ext cx="95250" cy="10477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5375" y="4114800"/>
            <a:ext cx="95250" cy="10477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5375" y="4495800"/>
            <a:ext cx="95250" cy="10477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475" y="5048250"/>
            <a:ext cx="5124450" cy="723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00825" y="2228850"/>
            <a:ext cx="5124450" cy="38290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15075" y="1943100"/>
            <a:ext cx="5124450" cy="38290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2475" y="6134100"/>
            <a:ext cx="10687050" cy="447675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838200" y="952500"/>
            <a:ext cx="31099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Python?</a:t>
            </a:r>
            <a:endParaRPr lang="en-US" sz="2500" dirty="0"/>
          </a:p>
        </p:txBody>
      </p:sp>
      <p:sp>
        <p:nvSpPr>
          <p:cNvPr id="16" name="Text 1"/>
          <p:cNvSpPr/>
          <p:nvPr/>
        </p:nvSpPr>
        <p:spPr>
          <a:xfrm>
            <a:off x="1028700" y="1959769"/>
            <a:ext cx="413385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General-purpose programming language</a:t>
            </a:r>
            <a:endParaRPr lang="en-US" sz="1400" dirty="0"/>
          </a:p>
        </p:txBody>
      </p:sp>
      <p:sp>
        <p:nvSpPr>
          <p:cNvPr id="17" name="Text 2"/>
          <p:cNvSpPr/>
          <p:nvPr/>
        </p:nvSpPr>
        <p:spPr>
          <a:xfrm>
            <a:off x="1028700" y="2574131"/>
            <a:ext cx="3800475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to build many types of software</a:t>
            </a:r>
            <a:endParaRPr lang="en-US" sz="1400" dirty="0"/>
          </a:p>
        </p:txBody>
      </p:sp>
      <p:sp>
        <p:nvSpPr>
          <p:cNvPr id="18" name="Text 3"/>
          <p:cNvSpPr/>
          <p:nvPr/>
        </p:nvSpPr>
        <p:spPr>
          <a:xfrm>
            <a:off x="1028700" y="3226594"/>
            <a:ext cx="2524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multiple styles:</a:t>
            </a:r>
            <a:endParaRPr lang="en-US" sz="1400" dirty="0"/>
          </a:p>
        </p:txBody>
      </p:sp>
      <p:sp>
        <p:nvSpPr>
          <p:cNvPr id="19" name="Text 4"/>
          <p:cNvSpPr/>
          <p:nvPr/>
        </p:nvSpPr>
        <p:spPr>
          <a:xfrm>
            <a:off x="1295399" y="3650456"/>
            <a:ext cx="2960077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Object-oriented programming</a:t>
            </a:r>
            <a:endParaRPr lang="en-US" sz="1600" dirty="0">
              <a:solidFill>
                <a:srgbClr val="7030A0"/>
              </a:solidFill>
            </a:endParaRPr>
          </a:p>
        </p:txBody>
      </p:sp>
      <p:sp>
        <p:nvSpPr>
          <p:cNvPr id="20" name="Text 5"/>
          <p:cNvSpPr/>
          <p:nvPr/>
        </p:nvSpPr>
        <p:spPr>
          <a:xfrm>
            <a:off x="1295400" y="4031456"/>
            <a:ext cx="2485292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Procedural programming</a:t>
            </a:r>
            <a:endParaRPr lang="en-US" sz="1600" dirty="0">
              <a:solidFill>
                <a:srgbClr val="7030A0"/>
              </a:solidFill>
            </a:endParaRPr>
          </a:p>
        </p:txBody>
      </p:sp>
      <p:sp>
        <p:nvSpPr>
          <p:cNvPr id="21" name="Text 6"/>
          <p:cNvSpPr/>
          <p:nvPr/>
        </p:nvSpPr>
        <p:spPr>
          <a:xfrm>
            <a:off x="1295400" y="4412456"/>
            <a:ext cx="2429608" cy="316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programming</a:t>
            </a:r>
            <a:endParaRPr lang="en-US" sz="1600" dirty="0">
              <a:solidFill>
                <a:srgbClr val="7030A0"/>
              </a:solidFill>
            </a:endParaRPr>
          </a:p>
        </p:txBody>
      </p:sp>
      <p:sp>
        <p:nvSpPr>
          <p:cNvPr id="22" name="Text 7"/>
          <p:cNvSpPr/>
          <p:nvPr/>
        </p:nvSpPr>
        <p:spPr>
          <a:xfrm>
            <a:off x="1028700" y="4976812"/>
            <a:ext cx="4838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Goal</a:t>
            </a:r>
            <a:endParaRPr lang="en-US" sz="2000" dirty="0"/>
          </a:p>
        </p:txBody>
      </p:sp>
      <p:sp>
        <p:nvSpPr>
          <p:cNvPr id="23" name="Text 8"/>
          <p:cNvSpPr/>
          <p:nvPr/>
        </p:nvSpPr>
        <p:spPr>
          <a:xfrm>
            <a:off x="1028700" y="5403056"/>
            <a:ext cx="48387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Simplify and speed up software development</a:t>
            </a:r>
            <a:endParaRPr lang="en-US" sz="1600" dirty="0">
              <a:solidFill>
                <a:srgbClr val="7030A0"/>
              </a:solidFill>
            </a:endParaRPr>
          </a:p>
        </p:txBody>
      </p:sp>
      <p:pic>
        <p:nvPicPr>
          <p:cNvPr id="24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19875" y="2247900"/>
            <a:ext cx="4514850" cy="3219450"/>
          </a:xfrm>
          <a:prstGeom prst="rect">
            <a:avLst/>
          </a:prstGeom>
        </p:spPr>
      </p:pic>
      <p:sp>
        <p:nvSpPr>
          <p:cNvPr id="25" name="Text 9"/>
          <p:cNvSpPr/>
          <p:nvPr/>
        </p:nvSpPr>
        <p:spPr>
          <a:xfrm>
            <a:off x="762000" y="6381750"/>
            <a:ext cx="1990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Programming Course</a:t>
            </a:r>
            <a:endParaRPr lang="en-US" sz="900" dirty="0"/>
          </a:p>
        </p:txBody>
      </p:sp>
      <p:sp>
        <p:nvSpPr>
          <p:cNvPr id="26" name="Text 10"/>
          <p:cNvSpPr/>
          <p:nvPr/>
        </p:nvSpPr>
        <p:spPr>
          <a:xfrm>
            <a:off x="11268075" y="6381750"/>
            <a:ext cx="161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3838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8175"/>
            <a:ext cx="10201275" cy="11525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3028950"/>
            <a:ext cx="5124450" cy="6762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4419600"/>
            <a:ext cx="114300" cy="12382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4743450"/>
            <a:ext cx="114300" cy="1238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5067300"/>
            <a:ext cx="114300" cy="1238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5391150"/>
            <a:ext cx="114300" cy="12382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5715000"/>
            <a:ext cx="114300" cy="12382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7575" y="4419600"/>
            <a:ext cx="114300" cy="12382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7575" y="4743450"/>
            <a:ext cx="114300" cy="123825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838200" y="952500"/>
            <a:ext cx="893162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Object-Oriented Programming (OOP) in Python</a:t>
            </a:r>
            <a:endParaRPr lang="en-US" sz="2500" dirty="0"/>
          </a:p>
        </p:txBody>
      </p:sp>
      <p:sp>
        <p:nvSpPr>
          <p:cNvPr id="15" name="Text 1"/>
          <p:cNvSpPr/>
          <p:nvPr/>
        </p:nvSpPr>
        <p:spPr>
          <a:xfrm>
            <a:off x="762000" y="1876425"/>
            <a:ext cx="5105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1700" dirty="0"/>
          </a:p>
        </p:txBody>
      </p:sp>
      <p:sp>
        <p:nvSpPr>
          <p:cNvPr id="16" name="Text 2"/>
          <p:cNvSpPr/>
          <p:nvPr/>
        </p:nvSpPr>
        <p:spPr>
          <a:xfrm>
            <a:off x="762000" y="2257425"/>
            <a:ext cx="51054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Programs built using classes and objects (a class is a blueprint; an object is an instance)</a:t>
            </a:r>
            <a:endParaRPr lang="en-US" sz="1200" dirty="0"/>
          </a:p>
        </p:txBody>
      </p:sp>
      <p:sp>
        <p:nvSpPr>
          <p:cNvPr id="17" name="Text 3"/>
          <p:cNvSpPr/>
          <p:nvPr/>
        </p:nvSpPr>
        <p:spPr>
          <a:xfrm>
            <a:off x="990600" y="3081338"/>
            <a:ext cx="487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 (Kicker)</a:t>
            </a:r>
            <a:endParaRPr lang="en-US" sz="1400" dirty="0"/>
          </a:p>
        </p:txBody>
      </p:sp>
      <p:sp>
        <p:nvSpPr>
          <p:cNvPr id="18" name="Text 4"/>
          <p:cNvSpPr/>
          <p:nvPr/>
        </p:nvSpPr>
        <p:spPr>
          <a:xfrm>
            <a:off x="990600" y="3386138"/>
            <a:ext cx="487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related data and behavior together</a:t>
            </a:r>
            <a:endParaRPr lang="en-US" sz="1200" dirty="0"/>
          </a:p>
        </p:txBody>
      </p:sp>
      <p:sp>
        <p:nvSpPr>
          <p:cNvPr id="19" name="Text 5"/>
          <p:cNvSpPr/>
          <p:nvPr/>
        </p:nvSpPr>
        <p:spPr>
          <a:xfrm>
            <a:off x="762000" y="3995738"/>
            <a:ext cx="2400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OOP Concepts:</a:t>
            </a:r>
            <a:endParaRPr lang="en-US" sz="1400" dirty="0"/>
          </a:p>
        </p:txBody>
      </p:sp>
      <p:sp>
        <p:nvSpPr>
          <p:cNvPr id="20" name="Text 6"/>
          <p:cNvSpPr/>
          <p:nvPr/>
        </p:nvSpPr>
        <p:spPr>
          <a:xfrm>
            <a:off x="971550" y="4376738"/>
            <a:ext cx="552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</a:t>
            </a:r>
            <a:endParaRPr lang="en-US" sz="1100" dirty="0"/>
          </a:p>
        </p:txBody>
      </p:sp>
      <p:sp>
        <p:nvSpPr>
          <p:cNvPr id="21" name="Text 7"/>
          <p:cNvSpPr/>
          <p:nvPr/>
        </p:nvSpPr>
        <p:spPr>
          <a:xfrm>
            <a:off x="971550" y="4700588"/>
            <a:ext cx="590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Objects</a:t>
            </a:r>
            <a:endParaRPr lang="en-US" sz="1100" dirty="0"/>
          </a:p>
        </p:txBody>
      </p:sp>
      <p:sp>
        <p:nvSpPr>
          <p:cNvPr id="22" name="Text 8"/>
          <p:cNvSpPr/>
          <p:nvPr/>
        </p:nvSpPr>
        <p:spPr>
          <a:xfrm>
            <a:off x="971550" y="5024438"/>
            <a:ext cx="1095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Encapsulation</a:t>
            </a:r>
            <a:endParaRPr lang="en-US" sz="1100" dirty="0"/>
          </a:p>
        </p:txBody>
      </p:sp>
      <p:sp>
        <p:nvSpPr>
          <p:cNvPr id="23" name="Text 9"/>
          <p:cNvSpPr/>
          <p:nvPr/>
        </p:nvSpPr>
        <p:spPr>
          <a:xfrm>
            <a:off x="971550" y="5348288"/>
            <a:ext cx="885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Inheritance</a:t>
            </a:r>
            <a:endParaRPr lang="en-US" sz="1100" dirty="0"/>
          </a:p>
        </p:txBody>
      </p:sp>
      <p:sp>
        <p:nvSpPr>
          <p:cNvPr id="24" name="Text 10"/>
          <p:cNvSpPr/>
          <p:nvPr/>
        </p:nvSpPr>
        <p:spPr>
          <a:xfrm>
            <a:off x="971550" y="5672138"/>
            <a:ext cx="1123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Polymorphism</a:t>
            </a:r>
            <a:endParaRPr lang="en-US" sz="1100" dirty="0"/>
          </a:p>
        </p:txBody>
      </p:sp>
      <p:sp>
        <p:nvSpPr>
          <p:cNvPr id="25" name="Text 11"/>
          <p:cNvSpPr/>
          <p:nvPr/>
        </p:nvSpPr>
        <p:spPr>
          <a:xfrm>
            <a:off x="3467100" y="3995738"/>
            <a:ext cx="2400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Explanation:</a:t>
            </a:r>
            <a:endParaRPr lang="en-US" sz="1400" dirty="0"/>
          </a:p>
        </p:txBody>
      </p:sp>
      <p:sp>
        <p:nvSpPr>
          <p:cNvPr id="26" name="Text 12"/>
          <p:cNvSpPr/>
          <p:nvPr/>
        </p:nvSpPr>
        <p:spPr>
          <a:xfrm>
            <a:off x="3676650" y="4376738"/>
            <a:ext cx="2076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→ class (blueprint)</a:t>
            </a:r>
            <a:endParaRPr lang="en-US" sz="1100" dirty="0"/>
          </a:p>
        </p:txBody>
      </p:sp>
      <p:sp>
        <p:nvSpPr>
          <p:cNvPr id="27" name="Text 13"/>
          <p:cNvSpPr/>
          <p:nvPr/>
        </p:nvSpPr>
        <p:spPr>
          <a:xfrm>
            <a:off x="3676650" y="4700588"/>
            <a:ext cx="2181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student1 → object (instance)</a:t>
            </a:r>
            <a:endParaRPr lang="en-US" sz="1100" dirty="0"/>
          </a:p>
        </p:txBody>
      </p:sp>
      <p:sp>
        <p:nvSpPr>
          <p:cNvPr id="28" name="Text 14"/>
          <p:cNvSpPr/>
          <p:nvPr/>
        </p:nvSpPr>
        <p:spPr>
          <a:xfrm>
            <a:off x="6324600" y="1876425"/>
            <a:ext cx="510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code:</a:t>
            </a:r>
            <a:endParaRPr lang="en-US" sz="1400" dirty="0"/>
          </a:p>
        </p:txBody>
      </p:sp>
      <p:sp>
        <p:nvSpPr>
          <p:cNvPr id="29" name="Text 15"/>
          <p:cNvSpPr/>
          <p:nvPr/>
        </p:nvSpPr>
        <p:spPr>
          <a:xfrm>
            <a:off x="6553200" y="2486025"/>
            <a:ext cx="4648200" cy="280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Student: def __init__(self, name, grades): self.name = name self.grades = grades def calculate_gpa(self): return sum(self.grades) / len(self.grades) # Creating an object from the class student1 = Student("Alice", [90, 85, 88]) # Using the object's method gpa = student1.calculate_gpa() print(student1.name, gpa)</a:t>
            </a:r>
            <a:endParaRPr lang="en-US" sz="900" dirty="0"/>
          </a:p>
        </p:txBody>
      </p:sp>
      <p:pic>
        <p:nvPicPr>
          <p:cNvPr id="32" name="Image 10" descr="preencoded.png">
            <a:extLst>
              <a:ext uri="{FF2B5EF4-FFF2-40B4-BE49-F238E27FC236}">
                <a16:creationId xmlns:a16="http://schemas.microsoft.com/office/drawing/2014/main" id="{84968376-08D7-4401-CEF2-27E3FF4CA8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48375" y="1600200"/>
            <a:ext cx="5505450" cy="4619625"/>
          </a:xfrm>
          <a:prstGeom prst="rect">
            <a:avLst/>
          </a:prstGeom>
        </p:spPr>
      </p:pic>
      <p:pic>
        <p:nvPicPr>
          <p:cNvPr id="33" name="Image 11" descr="preencoded.png">
            <a:extLst>
              <a:ext uri="{FF2B5EF4-FFF2-40B4-BE49-F238E27FC236}">
                <a16:creationId xmlns:a16="http://schemas.microsoft.com/office/drawing/2014/main" id="{90A906A2-EB3E-9016-5D02-AEEDB9BF94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62675" y="1714500"/>
            <a:ext cx="5276850" cy="342900"/>
          </a:xfrm>
          <a:prstGeom prst="rect">
            <a:avLst/>
          </a:prstGeom>
        </p:spPr>
      </p:pic>
      <p:pic>
        <p:nvPicPr>
          <p:cNvPr id="36" name="Image 12" descr="preencoded.png">
            <a:extLst>
              <a:ext uri="{FF2B5EF4-FFF2-40B4-BE49-F238E27FC236}">
                <a16:creationId xmlns:a16="http://schemas.microsoft.com/office/drawing/2014/main" id="{CE8A6753-6B12-76A9-56E1-20D2E5288E6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15075" y="1809750"/>
            <a:ext cx="133350" cy="142875"/>
          </a:xfrm>
          <a:prstGeom prst="rect">
            <a:avLst/>
          </a:prstGeom>
        </p:spPr>
      </p:pic>
      <p:pic>
        <p:nvPicPr>
          <p:cNvPr id="37" name="Image 13" descr="preencoded.png">
            <a:extLst>
              <a:ext uri="{FF2B5EF4-FFF2-40B4-BE49-F238E27FC236}">
                <a16:creationId xmlns:a16="http://schemas.microsoft.com/office/drawing/2014/main" id="{FC9B536C-8DAA-46B1-A03E-8045FCE7211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575" y="1809750"/>
            <a:ext cx="133350" cy="142875"/>
          </a:xfrm>
          <a:prstGeom prst="rect">
            <a:avLst/>
          </a:prstGeom>
        </p:spPr>
      </p:pic>
      <p:pic>
        <p:nvPicPr>
          <p:cNvPr id="38" name="Image 14" descr="preencoded.png">
            <a:extLst>
              <a:ext uri="{FF2B5EF4-FFF2-40B4-BE49-F238E27FC236}">
                <a16:creationId xmlns:a16="http://schemas.microsoft.com/office/drawing/2014/main" id="{6772E861-3A1D-D64A-190D-5E3C930B9F4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96075" y="1809750"/>
            <a:ext cx="133350" cy="142875"/>
          </a:xfrm>
          <a:prstGeom prst="rect">
            <a:avLst/>
          </a:prstGeom>
        </p:spPr>
      </p:pic>
      <p:sp>
        <p:nvSpPr>
          <p:cNvPr id="39" name="Text 13">
            <a:extLst>
              <a:ext uri="{FF2B5EF4-FFF2-40B4-BE49-F238E27FC236}">
                <a16:creationId xmlns:a16="http://schemas.microsoft.com/office/drawing/2014/main" id="{E2C4AD82-F099-76FA-35B5-39CD4EA407ED}"/>
              </a:ext>
            </a:extLst>
          </p:cNvPr>
          <p:cNvSpPr/>
          <p:nvPr/>
        </p:nvSpPr>
        <p:spPr>
          <a:xfrm>
            <a:off x="6972300" y="1804988"/>
            <a:ext cx="4116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8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7D064C7-FDBB-8BB1-2939-55D1C19114A5}"/>
              </a:ext>
            </a:extLst>
          </p:cNvPr>
          <p:cNvSpPr txBox="1"/>
          <p:nvPr/>
        </p:nvSpPr>
        <p:spPr>
          <a:xfrm>
            <a:off x="6324600" y="2257425"/>
            <a:ext cx="491503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C678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r>
              <a:rPr lang="en-US" sz="120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>
                <a:solidFill>
                  <a:srgbClr val="E5C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r>
              <a:rPr lang="en-US" sz="120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r>
              <a:rPr lang="en-US" sz="1200" dirty="0">
                <a:solidFill>
                  <a:srgbClr val="C678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</a:t>
            </a:r>
            <a:r>
              <a:rPr lang="en-US" sz="120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>
                <a:solidFill>
                  <a:srgbClr val="61A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</a:t>
            </a:r>
            <a:r>
              <a:rPr lang="en-US" sz="1200" dirty="0" err="1">
                <a:solidFill>
                  <a:srgbClr val="61A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</a:t>
            </a:r>
            <a:r>
              <a:rPr lang="en-US" sz="1200" dirty="0">
                <a:solidFill>
                  <a:srgbClr val="61A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</a:t>
            </a:r>
            <a:r>
              <a:rPr lang="en-US" sz="120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200" dirty="0">
                <a:solidFill>
                  <a:srgbClr val="E0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</a:t>
            </a:r>
            <a:r>
              <a:rPr lang="en-US" sz="120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name, grades):</a:t>
            </a:r>
          </a:p>
          <a:p>
            <a:pPr marL="0" indent="0">
              <a:buNone/>
            </a:pPr>
            <a:endParaRPr lang="en-US" sz="1200" dirty="0">
              <a:solidFill>
                <a:srgbClr val="E6E6E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</a:t>
            </a:r>
            <a:r>
              <a:rPr lang="en-US" sz="1200" dirty="0" err="1">
                <a:solidFill>
                  <a:srgbClr val="E0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</a:t>
            </a:r>
            <a:r>
              <a:rPr lang="en-US" sz="1200" dirty="0" err="1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.name</a:t>
            </a:r>
            <a:r>
              <a:rPr lang="en-US" sz="120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name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</a:t>
            </a:r>
            <a:r>
              <a:rPr lang="en-US" sz="1200" dirty="0" err="1">
                <a:solidFill>
                  <a:srgbClr val="E0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</a:t>
            </a:r>
            <a:r>
              <a:rPr lang="en-US" sz="1200" dirty="0" err="1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.grades</a:t>
            </a:r>
            <a:r>
              <a:rPr lang="en-US" sz="120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grades </a:t>
            </a:r>
          </a:p>
          <a:p>
            <a:pPr marL="0" indent="0">
              <a:buNone/>
            </a:pPr>
            <a:endParaRPr lang="en-US" sz="1200" dirty="0">
              <a:solidFill>
                <a:srgbClr val="E6E6E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rgbClr val="E6E6E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r>
              <a:rPr lang="en-US" sz="1200" dirty="0">
                <a:solidFill>
                  <a:srgbClr val="C678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</a:t>
            </a:r>
            <a:r>
              <a:rPr lang="en-US" sz="120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61A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calculate_gpa</a:t>
            </a:r>
            <a:r>
              <a:rPr lang="en-US" sz="120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200" dirty="0">
                <a:solidFill>
                  <a:srgbClr val="E0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</a:t>
            </a:r>
            <a:r>
              <a:rPr lang="en-US" sz="120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):</a:t>
            </a:r>
          </a:p>
          <a:p>
            <a:pPr marL="0" indent="0">
              <a:buNone/>
            </a:pPr>
            <a:endParaRPr lang="en-US" sz="1200" dirty="0">
              <a:solidFill>
                <a:srgbClr val="E6E6E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</a:t>
            </a:r>
            <a:r>
              <a:rPr lang="en-US" sz="1200" dirty="0">
                <a:solidFill>
                  <a:srgbClr val="C678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r>
              <a:rPr lang="en-US" sz="120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>
                <a:solidFill>
                  <a:srgbClr val="56B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</a:t>
            </a:r>
            <a:r>
              <a:rPr lang="en-US" sz="120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200" dirty="0" err="1">
                <a:solidFill>
                  <a:srgbClr val="E0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</a:t>
            </a:r>
            <a:r>
              <a:rPr lang="en-US" sz="1200" dirty="0" err="1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.grades</a:t>
            </a:r>
            <a:r>
              <a:rPr lang="en-US" sz="120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/ </a:t>
            </a:r>
            <a:r>
              <a:rPr lang="en-US" sz="1200" dirty="0" err="1">
                <a:solidFill>
                  <a:srgbClr val="56B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</a:t>
            </a:r>
            <a:r>
              <a:rPr lang="en-US" sz="120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200" dirty="0" err="1">
                <a:solidFill>
                  <a:srgbClr val="E0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</a:t>
            </a:r>
            <a:r>
              <a:rPr lang="en-US" sz="1200" dirty="0" err="1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.grades</a:t>
            </a:r>
            <a:r>
              <a:rPr lang="en-US" sz="120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</a:t>
            </a:r>
          </a:p>
          <a:p>
            <a:pPr marL="0" indent="0">
              <a:buNone/>
            </a:pPr>
            <a:endParaRPr lang="en-US" sz="1200" i="1" dirty="0">
              <a:solidFill>
                <a:srgbClr val="E6E6E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200" i="1" dirty="0">
                <a:solidFill>
                  <a:srgbClr val="7F8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Creating an object from the class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student1 = Student(</a:t>
            </a:r>
            <a:r>
              <a:rPr lang="en-US" sz="1200" dirty="0">
                <a:solidFill>
                  <a:srgbClr val="98C3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"Alice"</a:t>
            </a:r>
            <a:r>
              <a:rPr lang="en-US" sz="120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[</a:t>
            </a:r>
            <a:r>
              <a:rPr lang="en-US" sz="1200" dirty="0">
                <a:solidFill>
                  <a:srgbClr val="D19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r>
              <a:rPr lang="en-US" sz="120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200" dirty="0">
                <a:solidFill>
                  <a:srgbClr val="D19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r>
              <a:rPr lang="en-US" sz="120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200" dirty="0">
                <a:solidFill>
                  <a:srgbClr val="D19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r>
              <a:rPr lang="en-US" sz="120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]) </a:t>
            </a:r>
          </a:p>
          <a:p>
            <a:pPr marL="0" indent="0">
              <a:buNone/>
            </a:pPr>
            <a:r>
              <a:rPr lang="en-US" sz="1200" i="1" dirty="0">
                <a:solidFill>
                  <a:srgbClr val="7F8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Using the object's method</a:t>
            </a:r>
            <a:r>
              <a:rPr lang="en-US" sz="120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200" dirty="0" err="1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gpa</a:t>
            </a:r>
            <a:r>
              <a:rPr lang="en-US" sz="120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student1.calculate_gpa()</a:t>
            </a:r>
          </a:p>
          <a:p>
            <a:pPr marL="0" indent="0">
              <a:buNone/>
            </a:pPr>
            <a:endParaRPr lang="en-US" sz="1200" dirty="0">
              <a:solidFill>
                <a:srgbClr val="E6E6E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56B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</a:t>
            </a:r>
            <a:r>
              <a:rPr lang="en-US" sz="120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(student1.name, </a:t>
            </a:r>
            <a:r>
              <a:rPr lang="en-US" sz="1200" dirty="0" err="1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gpa</a:t>
            </a:r>
            <a:r>
              <a:rPr lang="en-US" sz="120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2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CC297063-05D8-7216-3708-A506616D0FF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15050" y="1714500"/>
            <a:ext cx="5643562" cy="46125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71600" y="-654845"/>
            <a:ext cx="13674514" cy="835803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8175"/>
            <a:ext cx="7991475" cy="11525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3286125"/>
            <a:ext cx="5238750" cy="6000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4914900"/>
            <a:ext cx="95250" cy="952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5219700"/>
            <a:ext cx="95250" cy="952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5524500"/>
            <a:ext cx="95250" cy="952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9174" y="3952874"/>
            <a:ext cx="106833" cy="116084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9174" y="4257674"/>
            <a:ext cx="106833" cy="116084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9174" y="4562474"/>
            <a:ext cx="106833" cy="116084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9174" y="4867274"/>
            <a:ext cx="106833" cy="116084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75" y="6134100"/>
            <a:ext cx="10687050" cy="447675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838200" y="952500"/>
            <a:ext cx="672286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Procedural Programming in Python</a:t>
            </a:r>
            <a:endParaRPr lang="en-US" sz="2500" dirty="0"/>
          </a:p>
        </p:txBody>
      </p:sp>
      <p:sp>
        <p:nvSpPr>
          <p:cNvPr id="16" name="Text 1"/>
          <p:cNvSpPr/>
          <p:nvPr/>
        </p:nvSpPr>
        <p:spPr>
          <a:xfrm>
            <a:off x="762000" y="2207419"/>
            <a:ext cx="5219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1700" dirty="0"/>
          </a:p>
        </p:txBody>
      </p:sp>
      <p:sp>
        <p:nvSpPr>
          <p:cNvPr id="17" name="Text 2"/>
          <p:cNvSpPr/>
          <p:nvPr/>
        </p:nvSpPr>
        <p:spPr>
          <a:xfrm>
            <a:off x="762000" y="2588419"/>
            <a:ext cx="52197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code as a sequence of instructions executed step by step; organized into functions that perform specific tasks</a:t>
            </a:r>
            <a:endParaRPr lang="en-US" sz="1200" dirty="0"/>
          </a:p>
        </p:txBody>
      </p:sp>
      <p:sp>
        <p:nvSpPr>
          <p:cNvPr id="18" name="Text 3"/>
          <p:cNvSpPr/>
          <p:nvPr/>
        </p:nvSpPr>
        <p:spPr>
          <a:xfrm>
            <a:off x="952500" y="3298031"/>
            <a:ext cx="5029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 (Kicker)</a:t>
            </a:r>
            <a:endParaRPr lang="en-US" sz="1400" dirty="0"/>
          </a:p>
        </p:txBody>
      </p:sp>
      <p:sp>
        <p:nvSpPr>
          <p:cNvPr id="19" name="Text 4"/>
          <p:cNvSpPr/>
          <p:nvPr/>
        </p:nvSpPr>
        <p:spPr>
          <a:xfrm>
            <a:off x="952500" y="3602831"/>
            <a:ext cx="5029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top-to-bottom flow of execution</a:t>
            </a:r>
            <a:endParaRPr lang="en-US" sz="1200" dirty="0"/>
          </a:p>
        </p:txBody>
      </p:sp>
      <p:sp>
        <p:nvSpPr>
          <p:cNvPr id="20" name="Text 5"/>
          <p:cNvSpPr/>
          <p:nvPr/>
        </p:nvSpPr>
        <p:spPr>
          <a:xfrm>
            <a:off x="8294489" y="1171574"/>
            <a:ext cx="313551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code:</a:t>
            </a:r>
            <a:endParaRPr lang="en-US" sz="1400" dirty="0"/>
          </a:p>
        </p:txBody>
      </p:sp>
      <p:sp>
        <p:nvSpPr>
          <p:cNvPr id="22" name="Text 7"/>
          <p:cNvSpPr/>
          <p:nvPr/>
        </p:nvSpPr>
        <p:spPr>
          <a:xfrm>
            <a:off x="762000" y="4429125"/>
            <a:ext cx="521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Python Features:</a:t>
            </a:r>
            <a:endParaRPr lang="en-US" sz="1400" dirty="0"/>
          </a:p>
        </p:txBody>
      </p:sp>
      <p:sp>
        <p:nvSpPr>
          <p:cNvPr id="23" name="Text 8"/>
          <p:cNvSpPr/>
          <p:nvPr/>
        </p:nvSpPr>
        <p:spPr>
          <a:xfrm>
            <a:off x="952500" y="4848225"/>
            <a:ext cx="1152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(def)</a:t>
            </a:r>
            <a:endParaRPr lang="en-US" sz="1100" dirty="0"/>
          </a:p>
        </p:txBody>
      </p:sp>
      <p:sp>
        <p:nvSpPr>
          <p:cNvPr id="24" name="Text 9"/>
          <p:cNvSpPr/>
          <p:nvPr/>
        </p:nvSpPr>
        <p:spPr>
          <a:xfrm>
            <a:off x="952500" y="5153025"/>
            <a:ext cx="126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Loops (for, while)</a:t>
            </a:r>
            <a:endParaRPr lang="en-US" sz="1100" dirty="0"/>
          </a:p>
        </p:txBody>
      </p:sp>
      <p:sp>
        <p:nvSpPr>
          <p:cNvPr id="25" name="Text 10"/>
          <p:cNvSpPr/>
          <p:nvPr/>
        </p:nvSpPr>
        <p:spPr>
          <a:xfrm>
            <a:off x="952500" y="5457825"/>
            <a:ext cx="2686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statements (if, elif, else)</a:t>
            </a:r>
            <a:endParaRPr lang="en-US" sz="1100" dirty="0"/>
          </a:p>
        </p:txBody>
      </p:sp>
      <p:sp>
        <p:nvSpPr>
          <p:cNvPr id="26" name="Text 11"/>
          <p:cNvSpPr/>
          <p:nvPr/>
        </p:nvSpPr>
        <p:spPr>
          <a:xfrm>
            <a:off x="4838699" y="3467100"/>
            <a:ext cx="5854401" cy="281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Used For:</a:t>
            </a:r>
            <a:endParaRPr lang="en-US" sz="1400" dirty="0"/>
          </a:p>
        </p:txBody>
      </p:sp>
      <p:sp>
        <p:nvSpPr>
          <p:cNvPr id="27" name="Text 12"/>
          <p:cNvSpPr/>
          <p:nvPr/>
        </p:nvSpPr>
        <p:spPr>
          <a:xfrm>
            <a:off x="5029200" y="3886200"/>
            <a:ext cx="1079005" cy="241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scripts</a:t>
            </a:r>
            <a:endParaRPr lang="en-US" sz="1100" dirty="0"/>
          </a:p>
        </p:txBody>
      </p:sp>
      <p:sp>
        <p:nvSpPr>
          <p:cNvPr id="28" name="Text 13"/>
          <p:cNvSpPr/>
          <p:nvPr/>
        </p:nvSpPr>
        <p:spPr>
          <a:xfrm>
            <a:off x="5029199" y="4191000"/>
            <a:ext cx="1527699" cy="241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tasks</a:t>
            </a:r>
            <a:endParaRPr lang="en-US" sz="1100" dirty="0"/>
          </a:p>
        </p:txBody>
      </p:sp>
      <p:sp>
        <p:nvSpPr>
          <p:cNvPr id="29" name="Text 14"/>
          <p:cNvSpPr/>
          <p:nvPr/>
        </p:nvSpPr>
        <p:spPr>
          <a:xfrm>
            <a:off x="5029200" y="4495800"/>
            <a:ext cx="1463600" cy="241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programs</a:t>
            </a:r>
            <a:endParaRPr lang="en-US" sz="1100" dirty="0"/>
          </a:p>
        </p:txBody>
      </p:sp>
      <p:sp>
        <p:nvSpPr>
          <p:cNvPr id="30" name="Text 15"/>
          <p:cNvSpPr/>
          <p:nvPr/>
        </p:nvSpPr>
        <p:spPr>
          <a:xfrm>
            <a:off x="5029199" y="4800600"/>
            <a:ext cx="2243475" cy="241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Beginner-friendly projects</a:t>
            </a:r>
            <a:endParaRPr lang="en-US" sz="1100" dirty="0"/>
          </a:p>
        </p:txBody>
      </p:sp>
      <p:sp>
        <p:nvSpPr>
          <p:cNvPr id="31" name="Text 16"/>
          <p:cNvSpPr/>
          <p:nvPr/>
        </p:nvSpPr>
        <p:spPr>
          <a:xfrm>
            <a:off x="762000" y="6381750"/>
            <a:ext cx="1990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Programming Course</a:t>
            </a:r>
            <a:endParaRPr lang="en-US" sz="900" dirty="0"/>
          </a:p>
        </p:txBody>
      </p:sp>
      <p:sp>
        <p:nvSpPr>
          <p:cNvPr id="32" name="Text 17"/>
          <p:cNvSpPr/>
          <p:nvPr/>
        </p:nvSpPr>
        <p:spPr>
          <a:xfrm>
            <a:off x="11353800" y="6381750"/>
            <a:ext cx="7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47" name="Text 13">
            <a:extLst>
              <a:ext uri="{FF2B5EF4-FFF2-40B4-BE49-F238E27FC236}">
                <a16:creationId xmlns:a16="http://schemas.microsoft.com/office/drawing/2014/main" id="{DCF79687-D787-76C9-AF06-AE5AF6E34C7E}"/>
              </a:ext>
            </a:extLst>
          </p:cNvPr>
          <p:cNvSpPr/>
          <p:nvPr/>
        </p:nvSpPr>
        <p:spPr>
          <a:xfrm>
            <a:off x="6975136" y="2526221"/>
            <a:ext cx="4116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68B47BC9-12FB-1E4D-D435-A3E14A682C6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75893" y="1628774"/>
            <a:ext cx="3897032" cy="38576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05" y="458405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8175"/>
            <a:ext cx="7943850" cy="11525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4000500"/>
            <a:ext cx="5124450" cy="8667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5715000"/>
            <a:ext cx="133350" cy="1428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6096000"/>
            <a:ext cx="133350" cy="1428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6477000"/>
            <a:ext cx="133350" cy="14287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7575" y="5715000"/>
            <a:ext cx="133350" cy="14287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7575" y="6096000"/>
            <a:ext cx="133350" cy="14287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7575" y="6477000"/>
            <a:ext cx="133350" cy="142875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838200" y="952500"/>
            <a:ext cx="667523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Programming in Python</a:t>
            </a:r>
            <a:endParaRPr lang="en-US" sz="2500" dirty="0"/>
          </a:p>
        </p:txBody>
      </p:sp>
      <p:sp>
        <p:nvSpPr>
          <p:cNvPr id="15" name="Text 1"/>
          <p:cNvSpPr/>
          <p:nvPr/>
        </p:nvSpPr>
        <p:spPr>
          <a:xfrm>
            <a:off x="762000" y="2420541"/>
            <a:ext cx="5105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1700" dirty="0"/>
          </a:p>
        </p:txBody>
      </p:sp>
      <p:sp>
        <p:nvSpPr>
          <p:cNvPr id="16" name="Text 2"/>
          <p:cNvSpPr/>
          <p:nvPr/>
        </p:nvSpPr>
        <p:spPr>
          <a:xfrm>
            <a:off x="762000" y="2877741"/>
            <a:ext cx="510540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used to transform data; often avoids modifying existing data and returns new results. Use small functions to process and transform data.</a:t>
            </a:r>
            <a:endParaRPr lang="en-US" sz="1400" dirty="0"/>
          </a:p>
        </p:txBody>
      </p:sp>
      <p:sp>
        <p:nvSpPr>
          <p:cNvPr id="17" name="Text 3"/>
          <p:cNvSpPr/>
          <p:nvPr/>
        </p:nvSpPr>
        <p:spPr>
          <a:xfrm>
            <a:off x="990600" y="4132659"/>
            <a:ext cx="487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</a:t>
            </a:r>
            <a:endParaRPr lang="en-US" sz="1400" dirty="0"/>
          </a:p>
        </p:txBody>
      </p:sp>
      <p:sp>
        <p:nvSpPr>
          <p:cNvPr id="18" name="Text 4"/>
          <p:cNvSpPr/>
          <p:nvPr/>
        </p:nvSpPr>
        <p:spPr>
          <a:xfrm>
            <a:off x="990600" y="4475559"/>
            <a:ext cx="487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"Take data, transform it, return the result"</a:t>
            </a:r>
            <a:endParaRPr lang="en-US" sz="1200" dirty="0"/>
          </a:p>
        </p:txBody>
      </p:sp>
      <p:sp>
        <p:nvSpPr>
          <p:cNvPr id="19" name="Text 5"/>
          <p:cNvSpPr/>
          <p:nvPr/>
        </p:nvSpPr>
        <p:spPr>
          <a:xfrm>
            <a:off x="762000" y="5237559"/>
            <a:ext cx="2400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Tools</a:t>
            </a:r>
            <a:endParaRPr lang="en-US" sz="1400" dirty="0"/>
          </a:p>
        </p:txBody>
      </p:sp>
      <p:sp>
        <p:nvSpPr>
          <p:cNvPr id="20" name="Text 6"/>
          <p:cNvSpPr/>
          <p:nvPr/>
        </p:nvSpPr>
        <p:spPr>
          <a:xfrm>
            <a:off x="1028700" y="5656659"/>
            <a:ext cx="514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map()</a:t>
            </a:r>
            <a:endParaRPr lang="en-US" sz="1200" dirty="0"/>
          </a:p>
        </p:txBody>
      </p:sp>
      <p:sp>
        <p:nvSpPr>
          <p:cNvPr id="21" name="Text 7"/>
          <p:cNvSpPr/>
          <p:nvPr/>
        </p:nvSpPr>
        <p:spPr>
          <a:xfrm>
            <a:off x="1028700" y="6037659"/>
            <a:ext cx="504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filter()</a:t>
            </a:r>
            <a:endParaRPr lang="en-US" sz="1200" dirty="0"/>
          </a:p>
        </p:txBody>
      </p:sp>
      <p:sp>
        <p:nvSpPr>
          <p:cNvPr id="22" name="Text 8"/>
          <p:cNvSpPr/>
          <p:nvPr/>
        </p:nvSpPr>
        <p:spPr>
          <a:xfrm>
            <a:off x="1028700" y="6418659"/>
            <a:ext cx="1514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functions</a:t>
            </a:r>
            <a:endParaRPr lang="en-US" sz="1200" dirty="0"/>
          </a:p>
        </p:txBody>
      </p:sp>
      <p:sp>
        <p:nvSpPr>
          <p:cNvPr id="23" name="Text 9"/>
          <p:cNvSpPr/>
          <p:nvPr/>
        </p:nvSpPr>
        <p:spPr>
          <a:xfrm>
            <a:off x="1028700" y="6799659"/>
            <a:ext cx="1790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comprehensions</a:t>
            </a:r>
            <a:endParaRPr lang="en-US" sz="1200" dirty="0"/>
          </a:p>
        </p:txBody>
      </p:sp>
      <p:sp>
        <p:nvSpPr>
          <p:cNvPr id="24" name="Text 10"/>
          <p:cNvSpPr/>
          <p:nvPr/>
        </p:nvSpPr>
        <p:spPr>
          <a:xfrm>
            <a:off x="3467100" y="5237559"/>
            <a:ext cx="2400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Used For</a:t>
            </a:r>
            <a:endParaRPr lang="en-US" sz="1400" dirty="0"/>
          </a:p>
        </p:txBody>
      </p:sp>
      <p:sp>
        <p:nvSpPr>
          <p:cNvPr id="25" name="Text 11"/>
          <p:cNvSpPr/>
          <p:nvPr/>
        </p:nvSpPr>
        <p:spPr>
          <a:xfrm>
            <a:off x="3733800" y="5656659"/>
            <a:ext cx="1400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processing</a:t>
            </a:r>
            <a:endParaRPr lang="en-US" sz="1200" dirty="0"/>
          </a:p>
        </p:txBody>
      </p:sp>
      <p:sp>
        <p:nvSpPr>
          <p:cNvPr id="26" name="Text 12"/>
          <p:cNvSpPr/>
          <p:nvPr/>
        </p:nvSpPr>
        <p:spPr>
          <a:xfrm>
            <a:off x="3733800" y="6037659"/>
            <a:ext cx="2124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collections</a:t>
            </a:r>
            <a:endParaRPr lang="en-US" sz="1200" dirty="0"/>
          </a:p>
        </p:txBody>
      </p:sp>
      <p:sp>
        <p:nvSpPr>
          <p:cNvPr id="27" name="Text 13"/>
          <p:cNvSpPr/>
          <p:nvPr/>
        </p:nvSpPr>
        <p:spPr>
          <a:xfrm>
            <a:off x="3733800" y="6418659"/>
            <a:ext cx="2076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Cleaner transformations</a:t>
            </a:r>
            <a:endParaRPr lang="en-US" sz="1200" dirty="0"/>
          </a:p>
        </p:txBody>
      </p:sp>
      <p:sp>
        <p:nvSpPr>
          <p:cNvPr id="29" name="Text 14"/>
          <p:cNvSpPr/>
          <p:nvPr/>
        </p:nvSpPr>
        <p:spPr>
          <a:xfrm>
            <a:off x="6324600" y="2725340"/>
            <a:ext cx="5105400" cy="70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Code</a:t>
            </a:r>
            <a:endParaRPr lang="en-US" sz="1400" dirty="0"/>
          </a:p>
        </p:txBody>
      </p:sp>
      <p:sp>
        <p:nvSpPr>
          <p:cNvPr id="30" name="Text 15"/>
          <p:cNvSpPr/>
          <p:nvPr/>
        </p:nvSpPr>
        <p:spPr>
          <a:xfrm>
            <a:off x="6591300" y="2200275"/>
            <a:ext cx="4610100" cy="2647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52C8786E-2A48-A8A0-C4F1-D6872B6AFD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9517" y="3242667"/>
            <a:ext cx="6092078" cy="23133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>
            <a:alphaModFix amt="10000"/>
          </a:blip>
          <a:stretch>
            <a:fillRect/>
          </a:stretch>
        </p:blipFill>
        <p:spPr>
          <a:xfrm>
            <a:off x="171450" y="0"/>
            <a:ext cx="12192000" cy="747474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38175"/>
            <a:ext cx="6267450" cy="11525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9542" y="2071687"/>
            <a:ext cx="5010150" cy="378142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0625" y="2628900"/>
            <a:ext cx="133350" cy="1428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0625" y="3402806"/>
            <a:ext cx="133350" cy="1333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0625" y="4201074"/>
            <a:ext cx="133350" cy="14287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0625" y="5057775"/>
            <a:ext cx="133350" cy="14287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475" y="6134100"/>
            <a:ext cx="10687050" cy="447675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838200" y="952500"/>
            <a:ext cx="499690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Design Philosophy</a:t>
            </a:r>
            <a:endParaRPr lang="en-US" sz="2500" dirty="0"/>
          </a:p>
        </p:txBody>
      </p:sp>
      <p:sp>
        <p:nvSpPr>
          <p:cNvPr id="18" name="Text 1"/>
          <p:cNvSpPr/>
          <p:nvPr/>
        </p:nvSpPr>
        <p:spPr>
          <a:xfrm>
            <a:off x="1466850" y="2547938"/>
            <a:ext cx="3057525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is better than complex</a:t>
            </a:r>
            <a:endParaRPr lang="en-US" sz="1400" dirty="0"/>
          </a:p>
        </p:txBody>
      </p:sp>
      <p:sp>
        <p:nvSpPr>
          <p:cNvPr id="19" name="Text 2"/>
          <p:cNvSpPr/>
          <p:nvPr/>
        </p:nvSpPr>
        <p:spPr>
          <a:xfrm>
            <a:off x="1466850" y="3317081"/>
            <a:ext cx="2790825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Readable code is important</a:t>
            </a:r>
            <a:endParaRPr lang="en-US" sz="1400" dirty="0"/>
          </a:p>
        </p:txBody>
      </p:sp>
      <p:sp>
        <p:nvSpPr>
          <p:cNvPr id="20" name="Text 3"/>
          <p:cNvSpPr/>
          <p:nvPr/>
        </p:nvSpPr>
        <p:spPr>
          <a:xfrm>
            <a:off x="1466850" y="3962399"/>
            <a:ext cx="40195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unnecessary complications in logic and structure</a:t>
            </a:r>
            <a:endParaRPr lang="en-US" sz="1400" b="1" dirty="0">
              <a:solidFill>
                <a:srgbClr val="7030A0"/>
              </a:solidFill>
            </a:endParaRPr>
          </a:p>
        </p:txBody>
      </p:sp>
      <p:sp>
        <p:nvSpPr>
          <p:cNvPr id="21" name="Text 4"/>
          <p:cNvSpPr/>
          <p:nvPr/>
        </p:nvSpPr>
        <p:spPr>
          <a:xfrm>
            <a:off x="1466850" y="4819649"/>
            <a:ext cx="40195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is read much more often than it is written</a:t>
            </a:r>
            <a:endParaRPr lang="en-US" sz="1400" b="1" dirty="0">
              <a:solidFill>
                <a:srgbClr val="7030A0"/>
              </a:solidFill>
            </a:endParaRPr>
          </a:p>
        </p:txBody>
      </p:sp>
      <p:sp>
        <p:nvSpPr>
          <p:cNvPr id="22" name="Text 5"/>
          <p:cNvSpPr/>
          <p:nvPr/>
        </p:nvSpPr>
        <p:spPr>
          <a:xfrm>
            <a:off x="7010400" y="2393156"/>
            <a:ext cx="40195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Programs should be easy to understand</a:t>
            </a:r>
            <a:endParaRPr lang="en-US" sz="1400" b="1" dirty="0">
              <a:solidFill>
                <a:srgbClr val="7030A0"/>
              </a:solidFill>
            </a:endParaRPr>
          </a:p>
        </p:txBody>
      </p:sp>
      <p:sp>
        <p:nvSpPr>
          <p:cNvPr id="23" name="Text 6"/>
          <p:cNvSpPr/>
          <p:nvPr/>
        </p:nvSpPr>
        <p:spPr>
          <a:xfrm>
            <a:off x="7010400" y="3317081"/>
            <a:ext cx="3971925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Encourages clean and maintainable code</a:t>
            </a:r>
            <a:endParaRPr lang="en-US" sz="1400" b="1" dirty="0">
              <a:solidFill>
                <a:srgbClr val="7030A0"/>
              </a:solidFill>
            </a:endParaRPr>
          </a:p>
        </p:txBody>
      </p:sp>
      <p:sp>
        <p:nvSpPr>
          <p:cNvPr id="24" name="Text 7"/>
          <p:cNvSpPr/>
          <p:nvPr/>
        </p:nvSpPr>
        <p:spPr>
          <a:xfrm>
            <a:off x="7010400" y="3931444"/>
            <a:ext cx="40195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 in intent makes collaboration and debugging seamless</a:t>
            </a:r>
            <a:endParaRPr lang="en-US" sz="1400" b="1" dirty="0">
              <a:solidFill>
                <a:srgbClr val="7030A0"/>
              </a:solidFill>
            </a:endParaRPr>
          </a:p>
        </p:txBody>
      </p:sp>
      <p:sp>
        <p:nvSpPr>
          <p:cNvPr id="25" name="Text 8"/>
          <p:cNvSpPr/>
          <p:nvPr/>
        </p:nvSpPr>
        <p:spPr>
          <a:xfrm>
            <a:off x="7010399" y="4746013"/>
            <a:ext cx="425767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long-term sustainability of the codebase</a:t>
            </a:r>
            <a:endParaRPr lang="en-US" sz="1400" b="1" dirty="0">
              <a:solidFill>
                <a:srgbClr val="7030A0"/>
              </a:solidFill>
            </a:endParaRPr>
          </a:p>
        </p:txBody>
      </p:sp>
      <p:sp>
        <p:nvSpPr>
          <p:cNvPr id="26" name="Text 9"/>
          <p:cNvSpPr/>
          <p:nvPr/>
        </p:nvSpPr>
        <p:spPr>
          <a:xfrm>
            <a:off x="762000" y="6381750"/>
            <a:ext cx="1990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Programming Course</a:t>
            </a:r>
            <a:endParaRPr lang="en-US" sz="900" dirty="0"/>
          </a:p>
        </p:txBody>
      </p:sp>
      <p:sp>
        <p:nvSpPr>
          <p:cNvPr id="27" name="Text 10"/>
          <p:cNvSpPr/>
          <p:nvPr/>
        </p:nvSpPr>
        <p:spPr>
          <a:xfrm>
            <a:off x="11268075" y="6381750"/>
            <a:ext cx="161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pic>
        <p:nvPicPr>
          <p:cNvPr id="34" name="Image 5" descr="preencoded.png">
            <a:extLst>
              <a:ext uri="{FF2B5EF4-FFF2-40B4-BE49-F238E27FC236}">
                <a16:creationId xmlns:a16="http://schemas.microsoft.com/office/drawing/2014/main" id="{A09D3B0F-2396-513F-3584-C8E0E2C32C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05600" y="2620109"/>
            <a:ext cx="133350" cy="142875"/>
          </a:xfrm>
          <a:prstGeom prst="rect">
            <a:avLst/>
          </a:prstGeom>
        </p:spPr>
      </p:pic>
      <p:pic>
        <p:nvPicPr>
          <p:cNvPr id="35" name="Image 6" descr="preencoded.png">
            <a:extLst>
              <a:ext uri="{FF2B5EF4-FFF2-40B4-BE49-F238E27FC236}">
                <a16:creationId xmlns:a16="http://schemas.microsoft.com/office/drawing/2014/main" id="{09A53262-748F-A46A-2157-15156ECB347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4650" y="3454277"/>
            <a:ext cx="133350" cy="133350"/>
          </a:xfrm>
          <a:prstGeom prst="rect">
            <a:avLst/>
          </a:prstGeom>
        </p:spPr>
      </p:pic>
      <p:pic>
        <p:nvPicPr>
          <p:cNvPr id="36" name="Image 7" descr="preencoded.png">
            <a:extLst>
              <a:ext uri="{FF2B5EF4-FFF2-40B4-BE49-F238E27FC236}">
                <a16:creationId xmlns:a16="http://schemas.microsoft.com/office/drawing/2014/main" id="{5EC5DAD6-6B47-0237-6849-4D5C67F8102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6888" y="4097948"/>
            <a:ext cx="133350" cy="142875"/>
          </a:xfrm>
          <a:prstGeom prst="rect">
            <a:avLst/>
          </a:prstGeom>
        </p:spPr>
      </p:pic>
      <p:pic>
        <p:nvPicPr>
          <p:cNvPr id="37" name="Image 8" descr="preencoded.png">
            <a:extLst>
              <a:ext uri="{FF2B5EF4-FFF2-40B4-BE49-F238E27FC236}">
                <a16:creationId xmlns:a16="http://schemas.microsoft.com/office/drawing/2014/main" id="{7304DCDE-69A5-3542-8212-DB66B301544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24650" y="5013446"/>
            <a:ext cx="13335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125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8175"/>
            <a:ext cx="6391275" cy="11525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2295525"/>
            <a:ext cx="3429000" cy="17240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1500" y="2295525"/>
            <a:ext cx="3429000" cy="172402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9100" y="2295525"/>
            <a:ext cx="3429000" cy="17240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4238625"/>
            <a:ext cx="3429000" cy="17240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1500" y="4238625"/>
            <a:ext cx="3429000" cy="172402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9100" y="4238625"/>
            <a:ext cx="3429000" cy="172402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6134100"/>
            <a:ext cx="10687050" cy="447675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838200" y="952500"/>
            <a:ext cx="51196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Python So Popular?</a:t>
            </a:r>
            <a:endParaRPr lang="en-US" sz="2500" dirty="0"/>
          </a:p>
        </p:txBody>
      </p:sp>
      <p:sp>
        <p:nvSpPr>
          <p:cNvPr id="13" name="Text 1"/>
          <p:cNvSpPr/>
          <p:nvPr/>
        </p:nvSpPr>
        <p:spPr>
          <a:xfrm>
            <a:off x="762000" y="1800225"/>
            <a:ext cx="1066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key reasons:</a:t>
            </a:r>
            <a:endParaRPr lang="en-US" sz="1700" dirty="0"/>
          </a:p>
        </p:txBody>
      </p:sp>
      <p:pic>
        <p:nvPicPr>
          <p:cNvPr id="14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4500" y="2600325"/>
            <a:ext cx="1447800" cy="685800"/>
          </a:xfrm>
          <a:prstGeom prst="rect">
            <a:avLst/>
          </a:prstGeom>
        </p:spPr>
      </p:pic>
      <p:sp>
        <p:nvSpPr>
          <p:cNvPr id="15" name="Text 2"/>
          <p:cNvSpPr/>
          <p:nvPr/>
        </p:nvSpPr>
        <p:spPr>
          <a:xfrm>
            <a:off x="1604963" y="3429000"/>
            <a:ext cx="1666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quality</a:t>
            </a:r>
            <a:endParaRPr lang="en-US" sz="1400" dirty="0"/>
          </a:p>
        </p:txBody>
      </p:sp>
      <p:pic>
        <p:nvPicPr>
          <p:cNvPr id="16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72100" y="2600325"/>
            <a:ext cx="1447800" cy="685800"/>
          </a:xfrm>
          <a:prstGeom prst="rect">
            <a:avLst/>
          </a:prstGeom>
        </p:spPr>
      </p:pic>
      <p:sp>
        <p:nvSpPr>
          <p:cNvPr id="17" name="Text 3"/>
          <p:cNvSpPr/>
          <p:nvPr/>
        </p:nvSpPr>
        <p:spPr>
          <a:xfrm>
            <a:off x="4924425" y="3429000"/>
            <a:ext cx="2343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productivity</a:t>
            </a:r>
            <a:endParaRPr lang="en-US" sz="1400" dirty="0"/>
          </a:p>
        </p:txBody>
      </p:sp>
      <p:pic>
        <p:nvPicPr>
          <p:cNvPr id="18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29700" y="2600325"/>
            <a:ext cx="1447800" cy="685800"/>
          </a:xfrm>
          <a:prstGeom prst="rect">
            <a:avLst/>
          </a:prstGeom>
        </p:spPr>
      </p:pic>
      <p:sp>
        <p:nvSpPr>
          <p:cNvPr id="19" name="Text 4"/>
          <p:cNvSpPr/>
          <p:nvPr/>
        </p:nvSpPr>
        <p:spPr>
          <a:xfrm>
            <a:off x="8763000" y="3429000"/>
            <a:ext cx="1981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portability</a:t>
            </a:r>
            <a:endParaRPr lang="en-US" sz="1400" dirty="0"/>
          </a:p>
        </p:txBody>
      </p:sp>
      <p:pic>
        <p:nvPicPr>
          <p:cNvPr id="20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00275" y="4648200"/>
            <a:ext cx="476250" cy="476250"/>
          </a:xfrm>
          <a:prstGeom prst="rect">
            <a:avLst/>
          </a:prstGeom>
        </p:spPr>
      </p:pic>
      <p:sp>
        <p:nvSpPr>
          <p:cNvPr id="21" name="Text 5"/>
          <p:cNvSpPr/>
          <p:nvPr/>
        </p:nvSpPr>
        <p:spPr>
          <a:xfrm>
            <a:off x="1323975" y="5372100"/>
            <a:ext cx="2228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standard library</a:t>
            </a:r>
            <a:endParaRPr lang="en-US" sz="1400" dirty="0"/>
          </a:p>
        </p:txBody>
      </p:sp>
      <p:pic>
        <p:nvPicPr>
          <p:cNvPr id="22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57875" y="4648200"/>
            <a:ext cx="476250" cy="476250"/>
          </a:xfrm>
          <a:prstGeom prst="rect">
            <a:avLst/>
          </a:prstGeom>
        </p:spPr>
      </p:pic>
      <p:sp>
        <p:nvSpPr>
          <p:cNvPr id="23" name="Text 6"/>
          <p:cNvSpPr/>
          <p:nvPr/>
        </p:nvSpPr>
        <p:spPr>
          <a:xfrm>
            <a:off x="4910138" y="5372100"/>
            <a:ext cx="2371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integration</a:t>
            </a:r>
            <a:endParaRPr lang="en-US" sz="1400" dirty="0"/>
          </a:p>
        </p:txBody>
      </p:sp>
      <p:pic>
        <p:nvPicPr>
          <p:cNvPr id="24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15475" y="4648200"/>
            <a:ext cx="476250" cy="476250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8443913" y="5372100"/>
            <a:ext cx="2619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and enjoyable to use</a:t>
            </a:r>
            <a:endParaRPr lang="en-US" sz="1400" dirty="0"/>
          </a:p>
        </p:txBody>
      </p:sp>
      <p:sp>
        <p:nvSpPr>
          <p:cNvPr id="26" name="Text 8"/>
          <p:cNvSpPr/>
          <p:nvPr/>
        </p:nvSpPr>
        <p:spPr>
          <a:xfrm>
            <a:off x="762000" y="6381750"/>
            <a:ext cx="1990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Programming Course</a:t>
            </a:r>
            <a:endParaRPr lang="en-US" sz="900" dirty="0"/>
          </a:p>
        </p:txBody>
      </p:sp>
      <p:sp>
        <p:nvSpPr>
          <p:cNvPr id="27" name="Text 9"/>
          <p:cNvSpPr/>
          <p:nvPr/>
        </p:nvSpPr>
        <p:spPr>
          <a:xfrm>
            <a:off x="11258550" y="6381750"/>
            <a:ext cx="171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8175"/>
            <a:ext cx="4429125" cy="11525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5525" y="2400300"/>
            <a:ext cx="171450" cy="1809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95525" y="3076575"/>
            <a:ext cx="171450" cy="1809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95525" y="3752850"/>
            <a:ext cx="171450" cy="1809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95525" y="4429125"/>
            <a:ext cx="171450" cy="18097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95525" y="5105400"/>
            <a:ext cx="171450" cy="18097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75" y="6134100"/>
            <a:ext cx="10687050" cy="447675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838200" y="952500"/>
            <a:ext cx="315664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Quality</a:t>
            </a:r>
            <a:endParaRPr lang="en-US" sz="2500" dirty="0"/>
          </a:p>
        </p:txBody>
      </p:sp>
      <p:sp>
        <p:nvSpPr>
          <p:cNvPr id="15" name="Text 1"/>
          <p:cNvSpPr/>
          <p:nvPr/>
        </p:nvSpPr>
        <p:spPr>
          <a:xfrm>
            <a:off x="2686050" y="2319338"/>
            <a:ext cx="30670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and readable syntax</a:t>
            </a:r>
            <a:endParaRPr lang="en-US" sz="1700" dirty="0"/>
          </a:p>
        </p:txBody>
      </p:sp>
      <p:sp>
        <p:nvSpPr>
          <p:cNvPr id="16" name="Text 2"/>
          <p:cNvSpPr/>
          <p:nvPr/>
        </p:nvSpPr>
        <p:spPr>
          <a:xfrm>
            <a:off x="2686050" y="2995613"/>
            <a:ext cx="23431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Easier maintenance</a:t>
            </a:r>
            <a:endParaRPr lang="en-US" sz="1700" dirty="0"/>
          </a:p>
        </p:txBody>
      </p:sp>
      <p:sp>
        <p:nvSpPr>
          <p:cNvPr id="17" name="Text 3"/>
          <p:cNvSpPr/>
          <p:nvPr/>
        </p:nvSpPr>
        <p:spPr>
          <a:xfrm>
            <a:off x="2686050" y="3671888"/>
            <a:ext cx="17240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code</a:t>
            </a:r>
            <a:endParaRPr lang="en-US" sz="1700" dirty="0"/>
          </a:p>
        </p:txBody>
      </p:sp>
      <p:sp>
        <p:nvSpPr>
          <p:cNvPr id="18" name="Text 4"/>
          <p:cNvSpPr/>
          <p:nvPr/>
        </p:nvSpPr>
        <p:spPr>
          <a:xfrm>
            <a:off x="2686050" y="4348163"/>
            <a:ext cx="3810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modular programming</a:t>
            </a:r>
            <a:endParaRPr lang="en-US" sz="1700" dirty="0"/>
          </a:p>
        </p:txBody>
      </p:sp>
      <p:sp>
        <p:nvSpPr>
          <p:cNvPr id="19" name="Text 5"/>
          <p:cNvSpPr/>
          <p:nvPr/>
        </p:nvSpPr>
        <p:spPr>
          <a:xfrm>
            <a:off x="2686050" y="5024438"/>
            <a:ext cx="57340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support for object-oriented programming</a:t>
            </a:r>
            <a:endParaRPr lang="en-US" sz="1700" dirty="0"/>
          </a:p>
        </p:txBody>
      </p:sp>
      <p:sp>
        <p:nvSpPr>
          <p:cNvPr id="20" name="Text 6"/>
          <p:cNvSpPr/>
          <p:nvPr/>
        </p:nvSpPr>
        <p:spPr>
          <a:xfrm>
            <a:off x="762000" y="6381750"/>
            <a:ext cx="1990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Programming Course</a:t>
            </a:r>
            <a:endParaRPr lang="en-US" sz="900" dirty="0"/>
          </a:p>
        </p:txBody>
      </p:sp>
      <p:sp>
        <p:nvSpPr>
          <p:cNvPr id="21" name="Text 7"/>
          <p:cNvSpPr/>
          <p:nvPr/>
        </p:nvSpPr>
        <p:spPr>
          <a:xfrm>
            <a:off x="11258550" y="6381750"/>
            <a:ext cx="171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8175"/>
            <a:ext cx="5648325" cy="11525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275" y="2628900"/>
            <a:ext cx="171450" cy="1714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275" y="3381375"/>
            <a:ext cx="171450" cy="1714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275" y="4133850"/>
            <a:ext cx="171450" cy="1714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275" y="4886325"/>
            <a:ext cx="171450" cy="1714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6134100"/>
            <a:ext cx="10687050" cy="447675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838200" y="952500"/>
            <a:ext cx="437971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Productivity</a:t>
            </a:r>
            <a:endParaRPr lang="en-US" sz="2500" dirty="0"/>
          </a:p>
        </p:txBody>
      </p:sp>
      <p:sp>
        <p:nvSpPr>
          <p:cNvPr id="12" name="Text 1"/>
          <p:cNvSpPr/>
          <p:nvPr/>
        </p:nvSpPr>
        <p:spPr>
          <a:xfrm>
            <a:off x="1447800" y="2543175"/>
            <a:ext cx="31527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code than C++ or Java</a:t>
            </a:r>
            <a:endParaRPr lang="en-US" sz="1700" dirty="0"/>
          </a:p>
        </p:txBody>
      </p:sp>
      <p:sp>
        <p:nvSpPr>
          <p:cNvPr id="13" name="Text 2"/>
          <p:cNvSpPr/>
          <p:nvPr/>
        </p:nvSpPr>
        <p:spPr>
          <a:xfrm>
            <a:off x="1447800" y="3295650"/>
            <a:ext cx="3429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compilation step required</a:t>
            </a:r>
            <a:endParaRPr lang="en-US" sz="1700" dirty="0"/>
          </a:p>
        </p:txBody>
      </p:sp>
      <p:sp>
        <p:nvSpPr>
          <p:cNvPr id="14" name="Text 3"/>
          <p:cNvSpPr/>
          <p:nvPr/>
        </p:nvSpPr>
        <p:spPr>
          <a:xfrm>
            <a:off x="1447800" y="4048125"/>
            <a:ext cx="35147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testing and debugging</a:t>
            </a:r>
            <a:endParaRPr lang="en-US" sz="1700" dirty="0"/>
          </a:p>
        </p:txBody>
      </p:sp>
      <p:sp>
        <p:nvSpPr>
          <p:cNvPr id="15" name="Text 4"/>
          <p:cNvSpPr/>
          <p:nvPr/>
        </p:nvSpPr>
        <p:spPr>
          <a:xfrm>
            <a:off x="1447800" y="4800600"/>
            <a:ext cx="46863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typing simplifies development</a:t>
            </a:r>
            <a:endParaRPr lang="en-US" sz="1700" dirty="0"/>
          </a:p>
        </p:txBody>
      </p:sp>
      <p:sp>
        <p:nvSpPr>
          <p:cNvPr id="17" name="Text 5"/>
          <p:cNvSpPr/>
          <p:nvPr/>
        </p:nvSpPr>
        <p:spPr>
          <a:xfrm>
            <a:off x="762000" y="6381750"/>
            <a:ext cx="1990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Programming Course</a:t>
            </a:r>
            <a:endParaRPr lang="en-US" sz="900" dirty="0"/>
          </a:p>
        </p:txBody>
      </p:sp>
      <p:sp>
        <p:nvSpPr>
          <p:cNvPr id="18" name="Text 6"/>
          <p:cNvSpPr/>
          <p:nvPr/>
        </p:nvSpPr>
        <p:spPr>
          <a:xfrm>
            <a:off x="11296650" y="6381750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8175"/>
            <a:ext cx="9267825" cy="11525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275" y="2533650"/>
            <a:ext cx="133350" cy="1428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275" y="2962275"/>
            <a:ext cx="133350" cy="1333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6134100"/>
            <a:ext cx="10687050" cy="447675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838200" y="952500"/>
            <a:ext cx="800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Is More Than a Scripting Language</a:t>
            </a:r>
            <a:endParaRPr lang="en-US" sz="2500" dirty="0"/>
          </a:p>
        </p:txBody>
      </p:sp>
      <p:pic>
        <p:nvPicPr>
          <p:cNvPr id="11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275" y="1847850"/>
            <a:ext cx="4819650" cy="428625"/>
          </a:xfrm>
          <a:prstGeom prst="rect">
            <a:avLst/>
          </a:prstGeom>
        </p:spPr>
      </p:pic>
      <p:sp>
        <p:nvSpPr>
          <p:cNvPr id="12" name="Text 1"/>
          <p:cNvSpPr/>
          <p:nvPr/>
        </p:nvSpPr>
        <p:spPr>
          <a:xfrm>
            <a:off x="1066800" y="1862138"/>
            <a:ext cx="4800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 small automation scripts</a:t>
            </a:r>
            <a:endParaRPr lang="en-US" sz="1700" dirty="0"/>
          </a:p>
        </p:txBody>
      </p:sp>
      <p:sp>
        <p:nvSpPr>
          <p:cNvPr id="13" name="Text 2"/>
          <p:cNvSpPr/>
          <p:nvPr/>
        </p:nvSpPr>
        <p:spPr>
          <a:xfrm>
            <a:off x="1333500" y="2452688"/>
            <a:ext cx="1247775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tasks</a:t>
            </a:r>
            <a:endParaRPr lang="en-US" sz="1400" dirty="0"/>
          </a:p>
        </p:txBody>
      </p:sp>
      <p:sp>
        <p:nvSpPr>
          <p:cNvPr id="14" name="Text 3"/>
          <p:cNvSpPr/>
          <p:nvPr/>
        </p:nvSpPr>
        <p:spPr>
          <a:xfrm>
            <a:off x="1333500" y="2876550"/>
            <a:ext cx="1571625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processing</a:t>
            </a:r>
            <a:endParaRPr lang="en-US" sz="1400" dirty="0"/>
          </a:p>
        </p:txBody>
      </p:sp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5075" y="1847850"/>
            <a:ext cx="4819650" cy="428625"/>
          </a:xfrm>
          <a:prstGeom prst="rect">
            <a:avLst/>
          </a:prstGeom>
        </p:spPr>
      </p:pic>
      <p:sp>
        <p:nvSpPr>
          <p:cNvPr id="16" name="Text 4"/>
          <p:cNvSpPr/>
          <p:nvPr/>
        </p:nvSpPr>
        <p:spPr>
          <a:xfrm>
            <a:off x="6324600" y="1862138"/>
            <a:ext cx="4800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 large applications</a:t>
            </a:r>
            <a:endParaRPr lang="en-US" sz="1700" dirty="0">
              <a:solidFill>
                <a:srgbClr val="7030A0"/>
              </a:solidFill>
            </a:endParaRPr>
          </a:p>
        </p:txBody>
      </p:sp>
      <p:sp>
        <p:nvSpPr>
          <p:cNvPr id="17" name="Text 5"/>
          <p:cNvSpPr/>
          <p:nvPr/>
        </p:nvSpPr>
        <p:spPr>
          <a:xfrm>
            <a:off x="6591300" y="2452688"/>
            <a:ext cx="2924175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platforms and AI systems</a:t>
            </a:r>
            <a:endParaRPr lang="en-US" sz="1400" dirty="0"/>
          </a:p>
        </p:txBody>
      </p:sp>
      <p:sp>
        <p:nvSpPr>
          <p:cNvPr id="18" name="Text 6"/>
          <p:cNvSpPr/>
          <p:nvPr/>
        </p:nvSpPr>
        <p:spPr>
          <a:xfrm>
            <a:off x="6591300" y="2876550"/>
            <a:ext cx="320040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Scientific and enterprise software</a:t>
            </a:r>
            <a:endParaRPr lang="en-US" sz="1400" dirty="0"/>
          </a:p>
        </p:txBody>
      </p:sp>
      <p:sp>
        <p:nvSpPr>
          <p:cNvPr id="20" name="Text 7"/>
          <p:cNvSpPr/>
          <p:nvPr/>
        </p:nvSpPr>
        <p:spPr>
          <a:xfrm>
            <a:off x="762000" y="6381750"/>
            <a:ext cx="1990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Programming Course</a:t>
            </a:r>
            <a:endParaRPr lang="en-US" sz="900" dirty="0"/>
          </a:p>
        </p:txBody>
      </p:sp>
      <p:sp>
        <p:nvSpPr>
          <p:cNvPr id="21" name="Text 8"/>
          <p:cNvSpPr/>
          <p:nvPr/>
        </p:nvSpPr>
        <p:spPr>
          <a:xfrm>
            <a:off x="11334750" y="6381750"/>
            <a:ext cx="9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pic>
        <p:nvPicPr>
          <p:cNvPr id="22" name="Image 4" descr="preencoded.png">
            <a:extLst>
              <a:ext uri="{FF2B5EF4-FFF2-40B4-BE49-F238E27FC236}">
                <a16:creationId xmlns:a16="http://schemas.microsoft.com/office/drawing/2014/main" id="{739BDBA1-EA42-0276-9EEC-5744D787B7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7925" y="3000375"/>
            <a:ext cx="133350" cy="133350"/>
          </a:xfrm>
          <a:prstGeom prst="rect">
            <a:avLst/>
          </a:prstGeom>
        </p:spPr>
      </p:pic>
      <p:pic>
        <p:nvPicPr>
          <p:cNvPr id="25" name="Image 3" descr="preencoded.png">
            <a:extLst>
              <a:ext uri="{FF2B5EF4-FFF2-40B4-BE49-F238E27FC236}">
                <a16:creationId xmlns:a16="http://schemas.microsoft.com/office/drawing/2014/main" id="{D2FCA101-C58F-D1BD-18EB-AD076DE020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6244352" y="2523870"/>
            <a:ext cx="160495" cy="17195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8175"/>
            <a:ext cx="7048500" cy="11525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8550" y="1790700"/>
            <a:ext cx="4914900" cy="8667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275" y="3181350"/>
            <a:ext cx="133350" cy="1428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9349" y="3685075"/>
            <a:ext cx="133350" cy="133350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838200" y="952500"/>
            <a:ext cx="577319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Scripting Language?</a:t>
            </a:r>
            <a:endParaRPr lang="en-US" sz="2500" dirty="0"/>
          </a:p>
        </p:txBody>
      </p:sp>
      <p:sp>
        <p:nvSpPr>
          <p:cNvPr id="12" name="Text 1"/>
          <p:cNvSpPr/>
          <p:nvPr/>
        </p:nvSpPr>
        <p:spPr>
          <a:xfrm>
            <a:off x="3919537" y="1876425"/>
            <a:ext cx="4619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1700" dirty="0"/>
          </a:p>
        </p:txBody>
      </p:sp>
      <p:sp>
        <p:nvSpPr>
          <p:cNvPr id="13" name="Text 2"/>
          <p:cNvSpPr/>
          <p:nvPr/>
        </p:nvSpPr>
        <p:spPr>
          <a:xfrm>
            <a:off x="3919537" y="2257425"/>
            <a:ext cx="4619625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Programming language used to automate tasks</a:t>
            </a:r>
            <a:endParaRPr lang="en-US" sz="1400" dirty="0"/>
          </a:p>
        </p:txBody>
      </p:sp>
      <p:sp>
        <p:nvSpPr>
          <p:cNvPr id="14" name="Text 3"/>
          <p:cNvSpPr/>
          <p:nvPr/>
        </p:nvSpPr>
        <p:spPr>
          <a:xfrm>
            <a:off x="1333500" y="3100388"/>
            <a:ext cx="350520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used to control other software</a:t>
            </a:r>
            <a:endParaRPr lang="en-US" sz="1600" dirty="0"/>
          </a:p>
        </p:txBody>
      </p:sp>
      <p:sp>
        <p:nvSpPr>
          <p:cNvPr id="15" name="Text 4"/>
          <p:cNvSpPr/>
          <p:nvPr/>
        </p:nvSpPr>
        <p:spPr>
          <a:xfrm>
            <a:off x="1333500" y="3562350"/>
            <a:ext cx="276225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Executes instructions quickly</a:t>
            </a:r>
            <a:endParaRPr lang="en-US" sz="1600" dirty="0"/>
          </a:p>
        </p:txBody>
      </p:sp>
      <p:sp>
        <p:nvSpPr>
          <p:cNvPr id="16" name="Text 5"/>
          <p:cNvSpPr/>
          <p:nvPr/>
        </p:nvSpPr>
        <p:spPr>
          <a:xfrm>
            <a:off x="6324600" y="3100388"/>
            <a:ext cx="480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</a:t>
            </a:r>
            <a:endParaRPr lang="en-US" sz="1700" dirty="0">
              <a:solidFill>
                <a:srgbClr val="7030A0"/>
              </a:solidFill>
            </a:endParaRPr>
          </a:p>
        </p:txBody>
      </p:sp>
      <p:sp>
        <p:nvSpPr>
          <p:cNvPr id="17" name="Text 6"/>
          <p:cNvSpPr/>
          <p:nvPr/>
        </p:nvSpPr>
        <p:spPr>
          <a:xfrm>
            <a:off x="6591300" y="3633788"/>
            <a:ext cx="1438275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processing</a:t>
            </a:r>
            <a:endParaRPr lang="en-US" sz="1600" dirty="0"/>
          </a:p>
        </p:txBody>
      </p:sp>
      <p:sp>
        <p:nvSpPr>
          <p:cNvPr id="18" name="Text 7"/>
          <p:cNvSpPr/>
          <p:nvPr/>
        </p:nvSpPr>
        <p:spPr>
          <a:xfrm>
            <a:off x="6591300" y="4095750"/>
            <a:ext cx="1152525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1600" dirty="0"/>
          </a:p>
        </p:txBody>
      </p:sp>
      <p:sp>
        <p:nvSpPr>
          <p:cNvPr id="19" name="Text 8"/>
          <p:cNvSpPr/>
          <p:nvPr/>
        </p:nvSpPr>
        <p:spPr>
          <a:xfrm>
            <a:off x="6591300" y="4557713"/>
            <a:ext cx="211455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system tasks</a:t>
            </a:r>
            <a:endParaRPr lang="en-US" sz="1600" dirty="0"/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CD282FC6-932E-2599-A92A-44280E600C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1305" y="3614737"/>
            <a:ext cx="133350" cy="142875"/>
          </a:xfrm>
          <a:prstGeom prst="rect">
            <a:avLst/>
          </a:prstGeom>
        </p:spPr>
      </p:pic>
      <p:pic>
        <p:nvPicPr>
          <p:cNvPr id="22" name="Image 5" descr="preencoded.png">
            <a:extLst>
              <a:ext uri="{FF2B5EF4-FFF2-40B4-BE49-F238E27FC236}">
                <a16:creationId xmlns:a16="http://schemas.microsoft.com/office/drawing/2014/main" id="{92E498D6-0E9D-0A5D-6279-9ECB32C2D9B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4219" y="4169202"/>
            <a:ext cx="133350" cy="133350"/>
          </a:xfrm>
          <a:prstGeom prst="rect">
            <a:avLst/>
          </a:prstGeom>
        </p:spPr>
      </p:pic>
      <p:pic>
        <p:nvPicPr>
          <p:cNvPr id="23" name="Image 5" descr="preencoded.png">
            <a:extLst>
              <a:ext uri="{FF2B5EF4-FFF2-40B4-BE49-F238E27FC236}">
                <a16:creationId xmlns:a16="http://schemas.microsoft.com/office/drawing/2014/main" id="{EB9054B3-9CA5-F2B7-BC08-0C6BD92E7C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9349" y="4645819"/>
            <a:ext cx="13335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8175"/>
            <a:ext cx="6457950" cy="11525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1885950"/>
            <a:ext cx="133350" cy="1333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2733675"/>
            <a:ext cx="133350" cy="1333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3267075"/>
            <a:ext cx="133350" cy="14287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6305550"/>
            <a:ext cx="10687050" cy="447675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838200" y="952500"/>
            <a:ext cx="518547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Trade-off: Performance</a:t>
            </a:r>
            <a:endParaRPr lang="en-US" sz="2500" dirty="0"/>
          </a:p>
        </p:txBody>
      </p:sp>
      <p:sp>
        <p:nvSpPr>
          <p:cNvPr id="13" name="Text 1"/>
          <p:cNvSpPr/>
          <p:nvPr/>
        </p:nvSpPr>
        <p:spPr>
          <a:xfrm>
            <a:off x="1028700" y="1800225"/>
            <a:ext cx="56388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can be slower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than compiled languages like C or C++</a:t>
            </a:r>
            <a:endParaRPr lang="en-US" sz="1400" dirty="0"/>
          </a:p>
        </p:txBody>
      </p:sp>
      <p:sp>
        <p:nvSpPr>
          <p:cNvPr id="14" name="Text 2"/>
          <p:cNvSpPr/>
          <p:nvPr/>
        </p:nvSpPr>
        <p:spPr>
          <a:xfrm>
            <a:off x="1028700" y="2647950"/>
            <a:ext cx="4029075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Usually </a:t>
            </a:r>
            <a:r>
              <a:rPr lang="en-US" sz="14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enough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most applications</a:t>
            </a:r>
            <a:endParaRPr lang="en-US" sz="1400" dirty="0"/>
          </a:p>
        </p:txBody>
      </p:sp>
      <p:sp>
        <p:nvSpPr>
          <p:cNvPr id="15" name="Text 3"/>
          <p:cNvSpPr/>
          <p:nvPr/>
        </p:nvSpPr>
        <p:spPr>
          <a:xfrm>
            <a:off x="1028700" y="3186113"/>
            <a:ext cx="4029075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operations run in </a:t>
            </a:r>
            <a:r>
              <a:rPr lang="en-US" sz="14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C code</a:t>
            </a:r>
            <a:endParaRPr lang="en-US" sz="1400" dirty="0"/>
          </a:p>
        </p:txBody>
      </p:sp>
      <p:sp>
        <p:nvSpPr>
          <p:cNvPr id="17" name="Text 4"/>
          <p:cNvSpPr/>
          <p:nvPr/>
        </p:nvSpPr>
        <p:spPr>
          <a:xfrm>
            <a:off x="762000" y="3800475"/>
            <a:ext cx="1066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tools:</a:t>
            </a:r>
            <a:endParaRPr lang="en-US" sz="1700" dirty="0"/>
          </a:p>
        </p:txBody>
      </p:sp>
      <p:pic>
        <p:nvPicPr>
          <p:cNvPr id="18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5194" y="6412401"/>
            <a:ext cx="390618" cy="158568"/>
          </a:xfrm>
          <a:prstGeom prst="rect">
            <a:avLst/>
          </a:prstGeom>
        </p:spPr>
      </p:pic>
      <p:sp>
        <p:nvSpPr>
          <p:cNvPr id="19" name="Text 5"/>
          <p:cNvSpPr/>
          <p:nvPr/>
        </p:nvSpPr>
        <p:spPr>
          <a:xfrm>
            <a:off x="2181225" y="5819775"/>
            <a:ext cx="514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PyPy</a:t>
            </a:r>
            <a:endParaRPr lang="en-US" sz="1400" dirty="0"/>
          </a:p>
        </p:txBody>
      </p:sp>
      <p:sp>
        <p:nvSpPr>
          <p:cNvPr id="21" name="Text 6"/>
          <p:cNvSpPr/>
          <p:nvPr/>
        </p:nvSpPr>
        <p:spPr>
          <a:xfrm>
            <a:off x="5734050" y="5819775"/>
            <a:ext cx="72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Cython</a:t>
            </a:r>
            <a:endParaRPr lang="en-US" sz="1400" dirty="0"/>
          </a:p>
        </p:txBody>
      </p:sp>
      <p:sp>
        <p:nvSpPr>
          <p:cNvPr id="23" name="Text 7"/>
          <p:cNvSpPr/>
          <p:nvPr/>
        </p:nvSpPr>
        <p:spPr>
          <a:xfrm>
            <a:off x="9382125" y="5819775"/>
            <a:ext cx="742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</a:t>
            </a:r>
            <a:endParaRPr lang="en-US" sz="1400" dirty="0"/>
          </a:p>
        </p:txBody>
      </p:sp>
      <p:sp>
        <p:nvSpPr>
          <p:cNvPr id="24" name="Text 8"/>
          <p:cNvSpPr/>
          <p:nvPr/>
        </p:nvSpPr>
        <p:spPr>
          <a:xfrm>
            <a:off x="762000" y="6553200"/>
            <a:ext cx="1990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Programming Course</a:t>
            </a:r>
            <a:endParaRPr lang="en-US" sz="900" dirty="0"/>
          </a:p>
        </p:txBody>
      </p:sp>
      <p:sp>
        <p:nvSpPr>
          <p:cNvPr id="25" name="Text 9"/>
          <p:cNvSpPr/>
          <p:nvPr/>
        </p:nvSpPr>
        <p:spPr>
          <a:xfrm>
            <a:off x="11306175" y="6553200"/>
            <a:ext cx="123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pic>
        <p:nvPicPr>
          <p:cNvPr id="1026" name="Picture 2" descr="interface, Files And Folders, Python File, Py File Format, Py Format ...">
            <a:extLst>
              <a:ext uri="{FF2B5EF4-FFF2-40B4-BE49-F238E27FC236}">
                <a16:creationId xmlns:a16="http://schemas.microsoft.com/office/drawing/2014/main" id="{B273F8A6-CF60-08F6-D150-3CFBCCC6A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919" y="4398900"/>
            <a:ext cx="1222131" cy="1222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ython Forge - Visual Studio Marketplace">
            <a:extLst>
              <a:ext uri="{FF2B5EF4-FFF2-40B4-BE49-F238E27FC236}">
                <a16:creationId xmlns:a16="http://schemas.microsoft.com/office/drawing/2014/main" id="{65BE929B-45AE-4398-4440-B841FF2ABF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525" y="4200525"/>
            <a:ext cx="1222131" cy="136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Numpy logo - Social media &amp; Logos Icons">
            <a:extLst>
              <a:ext uri="{FF2B5EF4-FFF2-40B4-BE49-F238E27FC236}">
                <a16:creationId xmlns:a16="http://schemas.microsoft.com/office/drawing/2014/main" id="{73B86D84-E5D9-E4B8-4AF4-2DF53F0DA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3387" y="3773181"/>
            <a:ext cx="3314700" cy="1850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3390"/>
            <a:ext cx="7267575" cy="115252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6134100"/>
            <a:ext cx="10687050" cy="447675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838200" y="477715"/>
            <a:ext cx="599316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 You Do With Python?</a:t>
            </a:r>
            <a:endParaRPr lang="en-US" sz="2500" dirty="0"/>
          </a:p>
        </p:txBody>
      </p:sp>
      <p:sp>
        <p:nvSpPr>
          <p:cNvPr id="16" name="Text 1"/>
          <p:cNvSpPr/>
          <p:nvPr/>
        </p:nvSpPr>
        <p:spPr>
          <a:xfrm>
            <a:off x="1573113" y="3286125"/>
            <a:ext cx="2119656" cy="418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and AI</a:t>
            </a:r>
            <a:endParaRPr lang="en-US" sz="1600" dirty="0"/>
          </a:p>
        </p:txBody>
      </p:sp>
      <p:sp>
        <p:nvSpPr>
          <p:cNvPr id="17" name="Text 2"/>
          <p:cNvSpPr/>
          <p:nvPr/>
        </p:nvSpPr>
        <p:spPr>
          <a:xfrm>
            <a:off x="5164485" y="3256817"/>
            <a:ext cx="1904530" cy="230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Development</a:t>
            </a:r>
            <a:endParaRPr lang="en-US" sz="1600" b="1" dirty="0">
              <a:solidFill>
                <a:srgbClr val="7030A0"/>
              </a:solidFill>
            </a:endParaRPr>
          </a:p>
        </p:txBody>
      </p:sp>
      <p:sp>
        <p:nvSpPr>
          <p:cNvPr id="18" name="Text 3"/>
          <p:cNvSpPr/>
          <p:nvPr/>
        </p:nvSpPr>
        <p:spPr>
          <a:xfrm>
            <a:off x="8985199" y="3286125"/>
            <a:ext cx="1904529" cy="230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 Applications</a:t>
            </a:r>
            <a:endParaRPr lang="en-US" sz="1600" dirty="0"/>
          </a:p>
        </p:txBody>
      </p:sp>
      <p:sp>
        <p:nvSpPr>
          <p:cNvPr id="19" name="Text 4"/>
          <p:cNvSpPr/>
          <p:nvPr/>
        </p:nvSpPr>
        <p:spPr>
          <a:xfrm>
            <a:off x="1494715" y="5713535"/>
            <a:ext cx="2338731" cy="169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Scientific Computing</a:t>
            </a:r>
            <a:endParaRPr lang="en-US" sz="1600" b="1" dirty="0">
              <a:solidFill>
                <a:srgbClr val="7030A0"/>
              </a:solidFill>
            </a:endParaRPr>
          </a:p>
        </p:txBody>
      </p:sp>
      <p:sp>
        <p:nvSpPr>
          <p:cNvPr id="21" name="Text 5"/>
          <p:cNvSpPr/>
          <p:nvPr/>
        </p:nvSpPr>
        <p:spPr>
          <a:xfrm>
            <a:off x="7710487" y="4100513"/>
            <a:ext cx="80962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500" dirty="0"/>
          </a:p>
        </p:txBody>
      </p:sp>
      <p:sp>
        <p:nvSpPr>
          <p:cNvPr id="22" name="Text 6"/>
          <p:cNvSpPr/>
          <p:nvPr/>
        </p:nvSpPr>
        <p:spPr>
          <a:xfrm>
            <a:off x="6831359" y="5530362"/>
            <a:ext cx="38659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and Systems Programming</a:t>
            </a:r>
            <a:endParaRPr lang="en-US" sz="1600" dirty="0"/>
          </a:p>
        </p:txBody>
      </p:sp>
      <p:sp>
        <p:nvSpPr>
          <p:cNvPr id="23" name="Text 7"/>
          <p:cNvSpPr/>
          <p:nvPr/>
        </p:nvSpPr>
        <p:spPr>
          <a:xfrm>
            <a:off x="762000" y="6381750"/>
            <a:ext cx="1990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Programming Course</a:t>
            </a:r>
            <a:endParaRPr lang="en-US" sz="900" dirty="0"/>
          </a:p>
        </p:txBody>
      </p:sp>
      <p:sp>
        <p:nvSpPr>
          <p:cNvPr id="24" name="Text 8"/>
          <p:cNvSpPr/>
          <p:nvPr/>
        </p:nvSpPr>
        <p:spPr>
          <a:xfrm>
            <a:off x="11296650" y="6381750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pic>
        <p:nvPicPr>
          <p:cNvPr id="3074" name="Picture 2" descr="Ai Technology, Artificial Intelligence. Containing Machine Learning ...">
            <a:extLst>
              <a:ext uri="{FF2B5EF4-FFF2-40B4-BE49-F238E27FC236}">
                <a16:creationId xmlns:a16="http://schemas.microsoft.com/office/drawing/2014/main" id="{E4BF6731-EBC1-691E-6009-67D7CDD992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908" y="1315916"/>
            <a:ext cx="3042138" cy="1920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Why to Use Python For Web Development? - GeeksforGeeks">
            <a:extLst>
              <a:ext uri="{FF2B5EF4-FFF2-40B4-BE49-F238E27FC236}">
                <a16:creationId xmlns:a16="http://schemas.microsoft.com/office/drawing/2014/main" id="{50C50597-7DD4-6CF0-AA64-7A9F7992BA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2337" y="1315915"/>
            <a:ext cx="2625238" cy="1825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10 Must-Know Tkinter Widgets for Stunning Python GUIs | by Tom ...">
            <a:extLst>
              <a:ext uri="{FF2B5EF4-FFF2-40B4-BE49-F238E27FC236}">
                <a16:creationId xmlns:a16="http://schemas.microsoft.com/office/drawing/2014/main" id="{D05AD0CB-30A6-AC79-7B05-83420AB937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3754" y="1315915"/>
            <a:ext cx="3242896" cy="1825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Understand visualizing SciPy results with Matplotlib">
            <a:extLst>
              <a:ext uri="{FF2B5EF4-FFF2-40B4-BE49-F238E27FC236}">
                <a16:creationId xmlns:a16="http://schemas.microsoft.com/office/drawing/2014/main" id="{680BA75F-A2F1-844C-A246-2D264BDEF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888" y="3713652"/>
            <a:ext cx="3037742" cy="1615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What Is Automation In Python?">
            <a:extLst>
              <a:ext uri="{FF2B5EF4-FFF2-40B4-BE49-F238E27FC236}">
                <a16:creationId xmlns:a16="http://schemas.microsoft.com/office/drawing/2014/main" id="{A6BC5F4A-6F1C-2BF7-66A9-E4238498CF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1359" y="3844192"/>
            <a:ext cx="3429000" cy="1615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8175"/>
            <a:ext cx="6581775" cy="11525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075" y="2178843"/>
            <a:ext cx="133350" cy="14287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4269943"/>
            <a:ext cx="133350" cy="14287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6134100"/>
            <a:ext cx="10687050" cy="447675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838200" y="952500"/>
            <a:ext cx="53101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 That Use Python</a:t>
            </a:r>
            <a:endParaRPr lang="en-US" sz="2500" dirty="0"/>
          </a:p>
        </p:txBody>
      </p:sp>
      <p:sp>
        <p:nvSpPr>
          <p:cNvPr id="13" name="Text 1"/>
          <p:cNvSpPr/>
          <p:nvPr/>
        </p:nvSpPr>
        <p:spPr>
          <a:xfrm>
            <a:off x="6591300" y="2012156"/>
            <a:ext cx="48387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companies, science and engineering, finance and media</a:t>
            </a:r>
            <a:endParaRPr lang="en-US" sz="1400" dirty="0"/>
          </a:p>
        </p:txBody>
      </p:sp>
      <p:sp>
        <p:nvSpPr>
          <p:cNvPr id="14" name="Text 2"/>
          <p:cNvSpPr/>
          <p:nvPr/>
        </p:nvSpPr>
        <p:spPr>
          <a:xfrm>
            <a:off x="6591300" y="2745581"/>
            <a:ext cx="243840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Google, NASA, JP Morgan</a:t>
            </a:r>
            <a:endParaRPr lang="en-US" sz="1400" b="1" dirty="0">
              <a:solidFill>
                <a:srgbClr val="7030A0"/>
              </a:solidFill>
            </a:endParaRPr>
          </a:p>
        </p:txBody>
      </p:sp>
      <p:sp>
        <p:nvSpPr>
          <p:cNvPr id="15" name="Text 3"/>
          <p:cNvSpPr/>
          <p:nvPr/>
        </p:nvSpPr>
        <p:spPr>
          <a:xfrm>
            <a:off x="6591300" y="3169444"/>
            <a:ext cx="215265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Microsoft, Intel, Disney</a:t>
            </a:r>
            <a:endParaRPr lang="en-US" sz="1400" b="1" dirty="0">
              <a:solidFill>
                <a:srgbClr val="7030A0"/>
              </a:solidFill>
            </a:endParaRPr>
          </a:p>
        </p:txBody>
      </p:sp>
      <p:sp>
        <p:nvSpPr>
          <p:cNvPr id="16" name="Text 4"/>
          <p:cNvSpPr/>
          <p:nvPr/>
        </p:nvSpPr>
        <p:spPr>
          <a:xfrm>
            <a:off x="6591300" y="3593306"/>
            <a:ext cx="243840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Instagram, Netflix, Spotify</a:t>
            </a:r>
            <a:endParaRPr lang="en-US" sz="1400" b="1" dirty="0">
              <a:solidFill>
                <a:srgbClr val="7030A0"/>
              </a:solidFill>
            </a:endParaRPr>
          </a:p>
        </p:txBody>
      </p:sp>
      <p:sp>
        <p:nvSpPr>
          <p:cNvPr id="17" name="Text 5"/>
          <p:cNvSpPr/>
          <p:nvPr/>
        </p:nvSpPr>
        <p:spPr>
          <a:xfrm>
            <a:off x="6591300" y="4017169"/>
            <a:ext cx="48387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of the most widely used languages worldwide</a:t>
            </a:r>
            <a:endParaRPr lang="en-US" sz="1400" dirty="0"/>
          </a:p>
        </p:txBody>
      </p:sp>
      <p:sp>
        <p:nvSpPr>
          <p:cNvPr id="19" name="Text 6"/>
          <p:cNvSpPr/>
          <p:nvPr/>
        </p:nvSpPr>
        <p:spPr>
          <a:xfrm>
            <a:off x="762000" y="6381750"/>
            <a:ext cx="1990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Programming Course</a:t>
            </a:r>
            <a:endParaRPr lang="en-US" sz="900" dirty="0"/>
          </a:p>
        </p:txBody>
      </p:sp>
      <p:sp>
        <p:nvSpPr>
          <p:cNvPr id="20" name="Text 7"/>
          <p:cNvSpPr/>
          <p:nvPr/>
        </p:nvSpPr>
        <p:spPr>
          <a:xfrm>
            <a:off x="11306175" y="6381750"/>
            <a:ext cx="123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pic>
        <p:nvPicPr>
          <p:cNvPr id="21" name="Image 3" descr="preencoded.png">
            <a:extLst>
              <a:ext uri="{FF2B5EF4-FFF2-40B4-BE49-F238E27FC236}">
                <a16:creationId xmlns:a16="http://schemas.microsoft.com/office/drawing/2014/main" id="{184ED951-1A9C-BAD8-C3D3-B6096A415E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826540"/>
            <a:ext cx="133350" cy="142875"/>
          </a:xfrm>
          <a:prstGeom prst="rect">
            <a:avLst/>
          </a:prstGeom>
        </p:spPr>
      </p:pic>
      <p:pic>
        <p:nvPicPr>
          <p:cNvPr id="23" name="Image 3" descr="preencoded.png">
            <a:extLst>
              <a:ext uri="{FF2B5EF4-FFF2-40B4-BE49-F238E27FC236}">
                <a16:creationId xmlns:a16="http://schemas.microsoft.com/office/drawing/2014/main" id="{6CAB1330-5229-B56B-1697-88600CD925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946" y="3276780"/>
            <a:ext cx="133350" cy="142875"/>
          </a:xfrm>
          <a:prstGeom prst="rect">
            <a:avLst/>
          </a:prstGeom>
        </p:spPr>
      </p:pic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C705E80E-C190-937C-8DA8-6F81B387BB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946" y="3727020"/>
            <a:ext cx="133350" cy="14287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6BEFA94-1E02-C28E-0C80-64B48B27B4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2094" y="1840706"/>
            <a:ext cx="5853906" cy="406479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875" y="2105026"/>
            <a:ext cx="3152775" cy="203120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175"/>
            <a:ext cx="7486650" cy="11525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6134100"/>
            <a:ext cx="10687050" cy="447675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838200" y="952500"/>
            <a:ext cx="621699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Strengths of Python (1)</a:t>
            </a:r>
            <a:endParaRPr lang="en-US" sz="2500" dirty="0"/>
          </a:p>
        </p:txBody>
      </p:sp>
      <p:sp>
        <p:nvSpPr>
          <p:cNvPr id="11" name="Text 1"/>
          <p:cNvSpPr/>
          <p:nvPr/>
        </p:nvSpPr>
        <p:spPr>
          <a:xfrm>
            <a:off x="739287" y="4383881"/>
            <a:ext cx="335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Object-Oriented Programming support</a:t>
            </a:r>
            <a:endParaRPr lang="en-US" sz="1400" dirty="0"/>
          </a:p>
        </p:txBody>
      </p:sp>
      <p:sp>
        <p:nvSpPr>
          <p:cNvPr id="12" name="Text 2"/>
          <p:cNvSpPr/>
          <p:nvPr/>
        </p:nvSpPr>
        <p:spPr>
          <a:xfrm>
            <a:off x="762000" y="4898231"/>
            <a:ext cx="3352800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classes and objects for modular and reusable code structures</a:t>
            </a:r>
            <a:endParaRPr lang="en-US" sz="900" dirty="0"/>
          </a:p>
        </p:txBody>
      </p:sp>
      <p:sp>
        <p:nvSpPr>
          <p:cNvPr id="14" name="Text 3"/>
          <p:cNvSpPr/>
          <p:nvPr/>
        </p:nvSpPr>
        <p:spPr>
          <a:xfrm>
            <a:off x="4419600" y="4343217"/>
            <a:ext cx="335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Programming support</a:t>
            </a:r>
            <a:endParaRPr lang="en-US" sz="1400" dirty="0"/>
          </a:p>
        </p:txBody>
      </p:sp>
      <p:sp>
        <p:nvSpPr>
          <p:cNvPr id="15" name="Text 4"/>
          <p:cNvSpPr/>
          <p:nvPr/>
        </p:nvSpPr>
        <p:spPr>
          <a:xfrm>
            <a:off x="4419600" y="4898231"/>
            <a:ext cx="3352800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features like lambda, map, and filter for functional paradigms</a:t>
            </a:r>
            <a:endParaRPr lang="en-US" sz="900" dirty="0"/>
          </a:p>
        </p:txBody>
      </p:sp>
      <p:sp>
        <p:nvSpPr>
          <p:cNvPr id="17" name="Text 5"/>
          <p:cNvSpPr/>
          <p:nvPr/>
        </p:nvSpPr>
        <p:spPr>
          <a:xfrm>
            <a:off x="8077200" y="4476567"/>
            <a:ext cx="3352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typing</a:t>
            </a:r>
            <a:endParaRPr lang="en-US" sz="1400" dirty="0"/>
          </a:p>
        </p:txBody>
      </p:sp>
      <p:sp>
        <p:nvSpPr>
          <p:cNvPr id="18" name="Text 6"/>
          <p:cNvSpPr/>
          <p:nvPr/>
        </p:nvSpPr>
        <p:spPr>
          <a:xfrm>
            <a:off x="8077200" y="4855277"/>
            <a:ext cx="3352800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are bound to objects at runtime, increasing development flexibility</a:t>
            </a:r>
            <a:endParaRPr lang="en-US" sz="900" dirty="0"/>
          </a:p>
        </p:txBody>
      </p:sp>
      <p:sp>
        <p:nvSpPr>
          <p:cNvPr id="19" name="Text 7"/>
          <p:cNvSpPr/>
          <p:nvPr/>
        </p:nvSpPr>
        <p:spPr>
          <a:xfrm>
            <a:off x="762000" y="6381750"/>
            <a:ext cx="1990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Programming Course</a:t>
            </a:r>
            <a:endParaRPr lang="en-US" sz="900" dirty="0"/>
          </a:p>
        </p:txBody>
      </p:sp>
      <p:sp>
        <p:nvSpPr>
          <p:cNvPr id="20" name="Text 8"/>
          <p:cNvSpPr/>
          <p:nvPr/>
        </p:nvSpPr>
        <p:spPr>
          <a:xfrm>
            <a:off x="11296650" y="6381750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pic>
        <p:nvPicPr>
          <p:cNvPr id="2050" name="Picture 2" descr="Object Oriented Programming OOP Python Language">
            <a:extLst>
              <a:ext uri="{FF2B5EF4-FFF2-40B4-BE49-F238E27FC236}">
                <a16:creationId xmlns:a16="http://schemas.microsoft.com/office/drawing/2014/main" id="{1A8766E4-D7C5-65E5-F2BC-C074B233D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038350"/>
            <a:ext cx="4257675" cy="2325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Using Functional Programming in Python (Overview) (Video) - Real Python">
            <a:extLst>
              <a:ext uri="{FF2B5EF4-FFF2-40B4-BE49-F238E27FC236}">
                <a16:creationId xmlns:a16="http://schemas.microsoft.com/office/drawing/2014/main" id="{0A529E81-9BFC-532D-A6A9-83408C2690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75" y="2038350"/>
            <a:ext cx="3152775" cy="2325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tatic Typing dan Dynamic Typing, apa Bedanya? | Invasikode">
            <a:extLst>
              <a:ext uri="{FF2B5EF4-FFF2-40B4-BE49-F238E27FC236}">
                <a16:creationId xmlns:a16="http://schemas.microsoft.com/office/drawing/2014/main" id="{CC671683-24AE-6FC1-82A5-52D735E8E6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125" y="2002723"/>
            <a:ext cx="4011490" cy="2360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8175"/>
            <a:ext cx="7553325" cy="11525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3975" y="1790700"/>
            <a:ext cx="9544050" cy="13144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3050" y="3547605"/>
            <a:ext cx="857250" cy="8763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3975" y="3390900"/>
            <a:ext cx="9544050" cy="13144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3975" y="4991100"/>
            <a:ext cx="9544050" cy="13144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52575" y="5219700"/>
            <a:ext cx="857250" cy="8763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2475" y="6515100"/>
            <a:ext cx="10687050" cy="342900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838200" y="952500"/>
            <a:ext cx="628367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Strengths of Python (2)</a:t>
            </a:r>
            <a:endParaRPr lang="en-US" sz="2500" dirty="0"/>
          </a:p>
        </p:txBody>
      </p:sp>
      <p:pic>
        <p:nvPicPr>
          <p:cNvPr id="13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62125" y="3757155"/>
            <a:ext cx="419100" cy="438150"/>
          </a:xfrm>
          <a:prstGeom prst="rect">
            <a:avLst/>
          </a:prstGeom>
        </p:spPr>
      </p:pic>
      <p:sp>
        <p:nvSpPr>
          <p:cNvPr id="14" name="Text 1"/>
          <p:cNvSpPr/>
          <p:nvPr/>
        </p:nvSpPr>
        <p:spPr>
          <a:xfrm>
            <a:off x="2667000" y="2118122"/>
            <a:ext cx="6877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memory management</a:t>
            </a:r>
            <a:endParaRPr lang="en-US" sz="1700" dirty="0"/>
          </a:p>
        </p:txBody>
      </p:sp>
      <p:sp>
        <p:nvSpPr>
          <p:cNvPr id="15" name="Text 2"/>
          <p:cNvSpPr/>
          <p:nvPr/>
        </p:nvSpPr>
        <p:spPr>
          <a:xfrm>
            <a:off x="2667000" y="2499122"/>
            <a:ext cx="687705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Garbage collection handles memory allocation and deallocation automatically</a:t>
            </a:r>
            <a:endParaRPr lang="en-US" sz="1200" dirty="0"/>
          </a:p>
        </p:txBody>
      </p:sp>
      <p:sp>
        <p:nvSpPr>
          <p:cNvPr id="17" name="Text 3"/>
          <p:cNvSpPr/>
          <p:nvPr/>
        </p:nvSpPr>
        <p:spPr>
          <a:xfrm>
            <a:off x="2667000" y="3718322"/>
            <a:ext cx="6734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standard library</a:t>
            </a:r>
            <a:endParaRPr lang="en-US" sz="1700" b="1" dirty="0">
              <a:solidFill>
                <a:srgbClr val="7030A0"/>
              </a:solidFill>
            </a:endParaRPr>
          </a:p>
        </p:txBody>
      </p:sp>
      <p:sp>
        <p:nvSpPr>
          <p:cNvPr id="18" name="Text 4"/>
          <p:cNvSpPr/>
          <p:nvPr/>
        </p:nvSpPr>
        <p:spPr>
          <a:xfrm>
            <a:off x="2667000" y="4099322"/>
            <a:ext cx="67341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Extensive built-in modules for everything from I/O to network programming</a:t>
            </a:r>
            <a:endParaRPr lang="en-US" sz="1200" dirty="0"/>
          </a:p>
        </p:txBody>
      </p:sp>
      <p:pic>
        <p:nvPicPr>
          <p:cNvPr id="19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62125" y="5429250"/>
            <a:ext cx="438150" cy="438150"/>
          </a:xfrm>
          <a:prstGeom prst="rect">
            <a:avLst/>
          </a:prstGeom>
        </p:spPr>
      </p:pic>
      <p:sp>
        <p:nvSpPr>
          <p:cNvPr id="20" name="Text 5"/>
          <p:cNvSpPr/>
          <p:nvPr/>
        </p:nvSpPr>
        <p:spPr>
          <a:xfrm>
            <a:off x="2667000" y="5318522"/>
            <a:ext cx="6315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 compatibility</a:t>
            </a:r>
            <a:endParaRPr lang="en-US" sz="1700" dirty="0"/>
          </a:p>
        </p:txBody>
      </p:sp>
      <p:sp>
        <p:nvSpPr>
          <p:cNvPr id="21" name="Text 6"/>
          <p:cNvSpPr/>
          <p:nvPr/>
        </p:nvSpPr>
        <p:spPr>
          <a:xfrm>
            <a:off x="2667000" y="5699522"/>
            <a:ext cx="63150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runs seamlessly across Windows, macOS, and Linux environments</a:t>
            </a:r>
            <a:endParaRPr lang="en-US" sz="1200" dirty="0"/>
          </a:p>
        </p:txBody>
      </p:sp>
      <p:sp>
        <p:nvSpPr>
          <p:cNvPr id="22" name="Text 7"/>
          <p:cNvSpPr/>
          <p:nvPr/>
        </p:nvSpPr>
        <p:spPr>
          <a:xfrm>
            <a:off x="762000" y="6762750"/>
            <a:ext cx="1990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Programming Course</a:t>
            </a:r>
            <a:endParaRPr lang="en-US" sz="900" dirty="0"/>
          </a:p>
        </p:txBody>
      </p:sp>
      <p:sp>
        <p:nvSpPr>
          <p:cNvPr id="23" name="Text 8"/>
          <p:cNvSpPr/>
          <p:nvPr/>
        </p:nvSpPr>
        <p:spPr>
          <a:xfrm>
            <a:off x="11306175" y="6762750"/>
            <a:ext cx="123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pic>
        <p:nvPicPr>
          <p:cNvPr id="24" name="Image 4" descr="preencoded.png">
            <a:extLst>
              <a:ext uri="{FF2B5EF4-FFF2-40B4-BE49-F238E27FC236}">
                <a16:creationId xmlns:a16="http://schemas.microsoft.com/office/drawing/2014/main" id="{3068E938-9615-8A17-F336-4B8D27DC1B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2575" y="2019300"/>
            <a:ext cx="857250" cy="876300"/>
          </a:xfrm>
          <a:prstGeom prst="rect">
            <a:avLst/>
          </a:prstGeom>
        </p:spPr>
      </p:pic>
      <p:pic>
        <p:nvPicPr>
          <p:cNvPr id="25" name="Image 10" descr="preencoded.png">
            <a:extLst>
              <a:ext uri="{FF2B5EF4-FFF2-40B4-BE49-F238E27FC236}">
                <a16:creationId xmlns:a16="http://schemas.microsoft.com/office/drawing/2014/main" id="{E629B809-5E9C-A0F6-EAB7-9FCD42375D0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71650" y="2228850"/>
            <a:ext cx="419100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8175"/>
            <a:ext cx="6657975" cy="11525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0225" y="3181350"/>
            <a:ext cx="133350" cy="1428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275" y="3181350"/>
            <a:ext cx="133350" cy="1428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00225" y="3676650"/>
            <a:ext cx="133350" cy="1428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1275" y="3676650"/>
            <a:ext cx="133350" cy="14287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2312" y="4618983"/>
            <a:ext cx="133350" cy="14287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75" y="6134100"/>
            <a:ext cx="10687050" cy="447675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838200" y="952500"/>
            <a:ext cx="538460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Python Is Easy to Learn</a:t>
            </a:r>
            <a:endParaRPr lang="en-US" sz="2500" dirty="0"/>
          </a:p>
        </p:txBody>
      </p:sp>
      <p:sp>
        <p:nvSpPr>
          <p:cNvPr id="13" name="Text 1"/>
          <p:cNvSpPr/>
          <p:nvPr/>
        </p:nvSpPr>
        <p:spPr>
          <a:xfrm>
            <a:off x="2076450" y="3136106"/>
            <a:ext cx="2733675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and readable syntax</a:t>
            </a:r>
            <a:endParaRPr lang="en-US" sz="1400" dirty="0"/>
          </a:p>
        </p:txBody>
      </p:sp>
      <p:sp>
        <p:nvSpPr>
          <p:cNvPr id="14" name="Text 2"/>
          <p:cNvSpPr/>
          <p:nvPr/>
        </p:nvSpPr>
        <p:spPr>
          <a:xfrm>
            <a:off x="6667500" y="3136106"/>
            <a:ext cx="190500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lines of code</a:t>
            </a:r>
            <a:endParaRPr lang="en-US" sz="1400" dirty="0"/>
          </a:p>
        </p:txBody>
      </p:sp>
      <p:sp>
        <p:nvSpPr>
          <p:cNvPr id="15" name="Text 3"/>
          <p:cNvSpPr/>
          <p:nvPr/>
        </p:nvSpPr>
        <p:spPr>
          <a:xfrm>
            <a:off x="2076450" y="3636169"/>
            <a:ext cx="2466975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programming</a:t>
            </a:r>
            <a:endParaRPr lang="en-US" sz="1400" dirty="0"/>
          </a:p>
        </p:txBody>
      </p:sp>
      <p:sp>
        <p:nvSpPr>
          <p:cNvPr id="16" name="Text 4"/>
          <p:cNvSpPr/>
          <p:nvPr/>
        </p:nvSpPr>
        <p:spPr>
          <a:xfrm>
            <a:off x="6667500" y="3636169"/>
            <a:ext cx="2695575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community support</a:t>
            </a:r>
            <a:endParaRPr lang="en-US" sz="1400" dirty="0"/>
          </a:p>
        </p:txBody>
      </p:sp>
      <p:sp>
        <p:nvSpPr>
          <p:cNvPr id="17" name="Text 5"/>
          <p:cNvSpPr/>
          <p:nvPr/>
        </p:nvSpPr>
        <p:spPr>
          <a:xfrm>
            <a:off x="3530501" y="4526756"/>
            <a:ext cx="367665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for beginners and professionals</a:t>
            </a:r>
            <a:endParaRPr lang="en-US" sz="1400" dirty="0"/>
          </a:p>
        </p:txBody>
      </p:sp>
      <p:sp>
        <p:nvSpPr>
          <p:cNvPr id="19" name="Text 6"/>
          <p:cNvSpPr/>
          <p:nvPr/>
        </p:nvSpPr>
        <p:spPr>
          <a:xfrm>
            <a:off x="762000" y="6381750"/>
            <a:ext cx="1990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Programming Course</a:t>
            </a:r>
            <a:endParaRPr lang="en-US" sz="900" dirty="0"/>
          </a:p>
        </p:txBody>
      </p:sp>
      <p:sp>
        <p:nvSpPr>
          <p:cNvPr id="20" name="Text 7"/>
          <p:cNvSpPr/>
          <p:nvPr/>
        </p:nvSpPr>
        <p:spPr>
          <a:xfrm>
            <a:off x="11296650" y="6381750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8175"/>
            <a:ext cx="6505575" cy="11525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1790700"/>
            <a:ext cx="4257675" cy="9334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3975" y="1790700"/>
            <a:ext cx="3467100" cy="9334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24900" y="1790700"/>
            <a:ext cx="2714625" cy="9334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81275" y="3086100"/>
            <a:ext cx="1352550" cy="476250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838200" y="952500"/>
            <a:ext cx="52339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vs Other Languages</a:t>
            </a:r>
            <a:endParaRPr lang="en-US" sz="2500" dirty="0"/>
          </a:p>
        </p:txBody>
      </p:sp>
      <p:sp>
        <p:nvSpPr>
          <p:cNvPr id="13" name="Text 1"/>
          <p:cNvSpPr/>
          <p:nvPr/>
        </p:nvSpPr>
        <p:spPr>
          <a:xfrm>
            <a:off x="1028700" y="1990725"/>
            <a:ext cx="370224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programs are shorter and easier to read</a:t>
            </a:r>
            <a:endParaRPr lang="en-US" sz="1200" dirty="0"/>
          </a:p>
        </p:txBody>
      </p:sp>
      <p:sp>
        <p:nvSpPr>
          <p:cNvPr id="14" name="Text 2"/>
          <p:cNvSpPr/>
          <p:nvPr/>
        </p:nvSpPr>
        <p:spPr>
          <a:xfrm>
            <a:off x="5416748" y="1990725"/>
            <a:ext cx="290720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improves development speed</a:t>
            </a:r>
            <a:endParaRPr lang="en-US" sz="1200" dirty="0"/>
          </a:p>
        </p:txBody>
      </p:sp>
      <p:sp>
        <p:nvSpPr>
          <p:cNvPr id="15" name="Text 3"/>
          <p:cNvSpPr/>
          <p:nvPr/>
        </p:nvSpPr>
        <p:spPr>
          <a:xfrm>
            <a:off x="9009757" y="1990725"/>
            <a:ext cx="215354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readability for teams</a:t>
            </a:r>
            <a:endParaRPr lang="en-US" sz="1200" dirty="0"/>
          </a:p>
        </p:txBody>
      </p:sp>
      <p:sp>
        <p:nvSpPr>
          <p:cNvPr id="16" name="Text 4"/>
          <p:cNvSpPr/>
          <p:nvPr/>
        </p:nvSpPr>
        <p:spPr>
          <a:xfrm>
            <a:off x="2819400" y="3171825"/>
            <a:ext cx="87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700" dirty="0"/>
          </a:p>
        </p:txBody>
      </p:sp>
      <p:sp>
        <p:nvSpPr>
          <p:cNvPr id="17" name="Text 5"/>
          <p:cNvSpPr/>
          <p:nvPr/>
        </p:nvSpPr>
        <p:spPr>
          <a:xfrm>
            <a:off x="2228552" y="4157663"/>
            <a:ext cx="2057846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9" name="Text 6"/>
          <p:cNvSpPr/>
          <p:nvPr/>
        </p:nvSpPr>
        <p:spPr>
          <a:xfrm>
            <a:off x="5857875" y="3857625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500" dirty="0">
              <a:solidFill>
                <a:srgbClr val="7030A0"/>
              </a:solidFill>
            </a:endParaRPr>
          </a:p>
        </p:txBody>
      </p:sp>
      <p:sp>
        <p:nvSpPr>
          <p:cNvPr id="20" name="Text 7"/>
          <p:cNvSpPr/>
          <p:nvPr/>
        </p:nvSpPr>
        <p:spPr>
          <a:xfrm>
            <a:off x="8667750" y="3171825"/>
            <a:ext cx="53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</a:t>
            </a:r>
            <a:endParaRPr lang="en-US" sz="1700" dirty="0"/>
          </a:p>
        </p:txBody>
      </p:sp>
      <p:sp>
        <p:nvSpPr>
          <p:cNvPr id="21" name="Text 8"/>
          <p:cNvSpPr/>
          <p:nvPr/>
        </p:nvSpPr>
        <p:spPr>
          <a:xfrm>
            <a:off x="7276802" y="4002881"/>
            <a:ext cx="3315295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3" name="Text 9"/>
          <p:cNvSpPr/>
          <p:nvPr/>
        </p:nvSpPr>
        <p:spPr>
          <a:xfrm>
            <a:off x="762000" y="6410325"/>
            <a:ext cx="10668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24" name="Image 6" descr="preencoded.png">
            <a:extLst>
              <a:ext uri="{FF2B5EF4-FFF2-40B4-BE49-F238E27FC236}">
                <a16:creationId xmlns:a16="http://schemas.microsoft.com/office/drawing/2014/main" id="{B1DE6F78-892F-7633-CB8A-633A835C2D6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57207" y="3100388"/>
            <a:ext cx="1352550" cy="476250"/>
          </a:xfrm>
          <a:prstGeom prst="rect">
            <a:avLst/>
          </a:prstGeom>
        </p:spPr>
      </p:pic>
      <p:sp>
        <p:nvSpPr>
          <p:cNvPr id="25" name="Text 4">
            <a:extLst>
              <a:ext uri="{FF2B5EF4-FFF2-40B4-BE49-F238E27FC236}">
                <a16:creationId xmlns:a16="http://schemas.microsoft.com/office/drawing/2014/main" id="{FCFBD8CC-36BC-6084-AA99-2747BF2DE7E4}"/>
              </a:ext>
            </a:extLst>
          </p:cNvPr>
          <p:cNvSpPr/>
          <p:nvPr/>
        </p:nvSpPr>
        <p:spPr>
          <a:xfrm>
            <a:off x="7951016" y="3031331"/>
            <a:ext cx="1250133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Java</a:t>
            </a:r>
            <a:endParaRPr lang="en-US" sz="17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19A3EDA-0991-F809-BCCC-412C2294719C}"/>
              </a:ext>
            </a:extLst>
          </p:cNvPr>
          <p:cNvSpPr txBox="1"/>
          <p:nvPr/>
        </p:nvSpPr>
        <p:spPr>
          <a:xfrm>
            <a:off x="2976196" y="3042111"/>
            <a:ext cx="62337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</a:t>
            </a:r>
            <a:endParaRPr lang="en-US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2927DEA-C25C-7631-FE36-31EBE29D5EA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83176" y="3978275"/>
            <a:ext cx="3492500" cy="173910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9F72364-2575-A724-9742-E7E10A4B36F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41251" y="3876674"/>
            <a:ext cx="4106662" cy="280035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3975" y="6238875"/>
            <a:ext cx="1924050" cy="571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581400" y="264795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800" dirty="0"/>
          </a:p>
        </p:txBody>
      </p:sp>
      <p:sp>
        <p:nvSpPr>
          <p:cNvPr id="6" name="Text 1"/>
          <p:cNvSpPr/>
          <p:nvPr/>
        </p:nvSpPr>
        <p:spPr>
          <a:xfrm>
            <a:off x="5295900" y="3867150"/>
            <a:ext cx="1600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960</Words>
  <Application>Microsoft Macintosh PowerPoint</Application>
  <PresentationFormat>Widescreen</PresentationFormat>
  <Paragraphs>237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dokie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dokie</dc:creator>
  <cp:lastModifiedBy>SAMANDAR GOFURJONOV 586625</cp:lastModifiedBy>
  <cp:revision>4</cp:revision>
  <dcterms:created xsi:type="dcterms:W3CDTF">2026-04-01T14:48:20Z</dcterms:created>
  <dcterms:modified xsi:type="dcterms:W3CDTF">2026-04-01T16:27:05Z</dcterms:modified>
</cp:coreProperties>
</file>